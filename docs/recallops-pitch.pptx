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38d3dfaa37485b" /><Relationship Type="http://schemas.openxmlformats.org/officeDocument/2006/relationships/extended-properties" Target="/docProps/app.xml" Id="Rbad84f21ef6748b1" /><Relationship Type="http://schemas.openxmlformats.org/officeDocument/2006/relationships/officeDocument" Target="/ppt/presentation.xml" Id="R80ea930718bf456e" /></Relationships>
</file>

<file path=ppt/presentation.xml><?xml version="1.0" encoding="utf-8"?>
<p:presentation xmlns:p="http://schemas.openxmlformats.org/presentationml/2006/main">
  <p:sldMasterIdLst>
    <p:sldMasterId xmlns:r="http://schemas.openxmlformats.org/officeDocument/2006/relationships" id="2147483648" r:id="Rad75382ba8194be0"/>
  </p:sldMasterIdLst>
  <p:notesMasterIdLst>
    <p:notesMasterId xmlns:r="http://schemas.openxmlformats.org/officeDocument/2006/relationships" r:id="R2a6e8f54d9704d82"/>
  </p:notesMasterIdLst>
  <p:sldIdLst>
    <p:sldId xmlns:r="http://schemas.openxmlformats.org/officeDocument/2006/relationships" id="256" r:id="R53636b247d104e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ef6d4f77f14191" /><Relationship Type="http://schemas.openxmlformats.org/officeDocument/2006/relationships/slideMaster" Target="/ppt/slideMasters/slideMaster1.xml" Id="Rad75382ba8194be0" /><Relationship Type="http://schemas.openxmlformats.org/officeDocument/2006/relationships/notesMaster" Target="/ppt/notesMasters/notesMaster1.xml" Id="R2a6e8f54d9704d82" /><Relationship Type="http://schemas.openxmlformats.org/officeDocument/2006/relationships/presProps" Target="/ppt/presProps.xml" Id="R401a5b7a346f4f56" /><Relationship Type="http://schemas.openxmlformats.org/officeDocument/2006/relationships/tableStyles" Target="/ppt/tableStyles.xml" Id="R11f104e383d94c6d" /><Relationship Type="http://schemas.openxmlformats.org/officeDocument/2006/relationships/slide" Target="/ppt/slides/slide1.xml" Id="R53636b247d104e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f3876050b842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0265e999414af5" /><Relationship Type="http://schemas.openxmlformats.org/officeDocument/2006/relationships/notesMaster" Target="/ppt/notesMasters/notesMaster1.xml" Id="R57c95d6839d649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implementation: backend/app/agents/investigator.py, backend/app/services/investigator_evidence.py and docs/investigator-guide.md. Public official recall source: https://rappel.conso.gouv.fr/fiche-rappel/17010/Interne (historical recall fixture). Customer hypothesis and proposed first-user route: docs/pilot-plan.md. This slide presents a prototype and a proposed pilot. No customer adoption, measured time saving, independently validated accuracy, market size, or hosted Aiven deployment is claimed. Demo stock and delivery records are fictional. Internal holds do not change a real checkout system. Suggested spoken pitch: A grocery operator needs to identify the recalled batch, not just a matching barcode. RecallOps searches the available delivery records, asks for an explicit stock association, and preserves the source behind the decision. Our first pilot would compare the existing manual process with supervised historical investigations using authorized exports.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1e4c37f2be41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446f14c63443e9" /><Relationship Type="http://schemas.openxmlformats.org/officeDocument/2006/relationships/slideLayout" Target="/ppt/slideLayouts/slideLayout1.xml" Id="R1a0dbffc69b844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0dbffc69b844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94d228505e454d" /><Relationship Type="http://schemas.openxmlformats.org/officeDocument/2006/relationships/notesSlide" Target="/ppt/notesSlides/notesSlide1.xml" Id="Rd47f52762767452d" /></Relationships>
</file>

<file path=ppt/slides/slide1.xml><?xml version="1.0" encoding="utf-8"?>
<p:sld xmlns:p="http://schemas.openxmlformats.org/presentationml/2006/main">
  <p:cSld>
    <p:bg>
      <p:bgPr>
        <a:solidFill xmlns:a="http://schemas.openxmlformats.org/drawingml/2006/main">
          <a:srgbClr val="E8EF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F2364B-551B-4460-888F-E0C7B5AEB2D6}"/>
              </a:ext>
            </a:extLst>
          </p:cNvPr>
          <p:cNvSpPr>
            <a:spLocks xmlns:a="http://schemas.openxmlformats.org/drawingml/2006/main" noGrp="1"/>
          </p:cNvSpPr>
          <p:nvPr/>
        </p:nvSpPr>
        <p:spPr>
          <a:xfrm xmlns:a="http://schemas.openxmlformats.org/drawingml/2006/main">
            <a:off x="609600" y="4191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74D46"/>
                </a:solidFill>
                <a:latin typeface="Helvetica Neue"/>
                <a:ea typeface="Helvetica Neue"/>
                <a:cs typeface="Helvetica Neue"/>
              </a:defRPr>
            </a:pPr>
            <a:r>
              <a:rPr sz="3900" b="1">
                <a:solidFill>
                  <a:srgbClr val="174D46"/>
                </a:solidFill>
                <a:latin typeface="Helvetica Neue"/>
                <a:ea typeface="Helvetica Neue"/>
                <a:cs typeface="Helvetica Neue"/>
              </a:rPr>
              <a:t>RecallOps</a:t>
            </a:r>
          </a:p>
        </p:txBody>
      </p:sp>
      <p:sp>
        <p:nvSpPr>
          <p:cNvPr id="2" name="">
            <a:extLst xmlns:a="http://schemas.openxmlformats.org/drawingml/2006/main">
              <a:ext uri="{FF2B5EF4-FFF2-40B4-BE49-F238E27FC236}">
                <a16:creationId xmlns:a16="http://schemas.microsoft.com/office/drawing/2014/main" id="{2912BEB3-512C-4806-A19A-14078ACADF71}"/>
              </a:ext>
            </a:extLst>
          </p:cNvPr>
          <p:cNvSpPr>
            <a:spLocks xmlns:a="http://schemas.openxmlformats.org/drawingml/2006/main" noGrp="1"/>
          </p:cNvSpPr>
          <p:nvPr/>
        </p:nvSpPr>
        <p:spPr>
          <a:xfrm xmlns:a="http://schemas.openxmlformats.org/drawingml/2006/main">
            <a:off x="609600" y="153352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4D46"/>
                </a:solidFill>
                <a:latin typeface="Helvetica Neue"/>
                <a:ea typeface="Helvetica Neue"/>
                <a:cs typeface="Helvetica Neue"/>
              </a:defRPr>
            </a:pPr>
            <a:r>
              <a:rPr sz="4800" b="1">
                <a:solidFill>
                  <a:srgbClr val="174D46"/>
                </a:solidFill>
                <a:latin typeface="Helvetica Neue"/>
                <a:ea typeface="Helvetica Neue"/>
                <a:cs typeface="Helvetica Neue"/>
              </a:rPr>
              <a:t>Which batches</a:t>
            </a:r>
          </a:p>
          <a:p xmlns:a="http://schemas.openxmlformats.org/drawingml/2006/main">
            <a:pPr>
              <a:defRPr sz="4800" b="1">
                <a:solidFill>
                  <a:srgbClr val="174D46"/>
                </a:solidFill>
                <a:latin typeface="Helvetica Neue"/>
                <a:ea typeface="Helvetica Neue"/>
                <a:cs typeface="Helvetica Neue"/>
              </a:defRPr>
            </a:pPr>
            <a:r>
              <a:rPr sz="4800" b="1">
                <a:solidFill>
                  <a:srgbClr val="174D46"/>
                </a:solidFill>
                <a:latin typeface="Helvetica Neue"/>
                <a:ea typeface="Helvetica Neue"/>
                <a:cs typeface="Helvetica Neue"/>
              </a:rPr>
              <a:t>need action?</a:t>
            </a:r>
          </a:p>
        </p:txBody>
      </p:sp>
      <p:sp>
        <p:nvSpPr>
          <p:cNvPr id="3" name="">
            <a:extLst xmlns:a="http://schemas.openxmlformats.org/drawingml/2006/main">
              <a:ext uri="{FF2B5EF4-FFF2-40B4-BE49-F238E27FC236}">
                <a16:creationId xmlns:a16="http://schemas.microsoft.com/office/drawing/2014/main" id="{FB0D0895-F10A-402C-ABB1-5F4508C35763}"/>
              </a:ext>
            </a:extLst>
          </p:cNvPr>
          <p:cNvSpPr>
            <a:spLocks xmlns:a="http://schemas.openxmlformats.org/drawingml/2006/main" noGrp="1"/>
          </p:cNvSpPr>
          <p:nvPr/>
        </p:nvSpPr>
        <p:spPr>
          <a:xfrm xmlns:a="http://schemas.openxmlformats.org/drawingml/2006/main">
            <a:off x="647700" y="34575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5D54"/>
                </a:solidFill>
                <a:latin typeface="Helvetica Neue"/>
                <a:ea typeface="Helvetica Neue"/>
                <a:cs typeface="Helvetica Neue"/>
              </a:defRPr>
            </a:pPr>
            <a:r>
              <a:rPr sz="2175" b="0">
                <a:solidFill>
                  <a:srgbClr val="345D54"/>
                </a:solidFill>
                <a:latin typeface="Helvetica Neue"/>
                <a:ea typeface="Helvetica Neue"/>
                <a:cs typeface="Helvetica Neue"/>
              </a:rPr>
              <a:t>Evidence-led recall investigation</a:t>
            </a:r>
          </a:p>
          <a:p xmlns:a="http://schemas.openxmlformats.org/drawingml/2006/main">
            <a:pPr>
              <a:defRPr sz="2175" b="0">
                <a:solidFill>
                  <a:srgbClr val="345D54"/>
                </a:solidFill>
                <a:latin typeface="Helvetica Neue"/>
                <a:ea typeface="Helvetica Neue"/>
                <a:cs typeface="Helvetica Neue"/>
              </a:defRPr>
            </a:pPr>
            <a:r>
              <a:rPr sz="2175" b="0">
                <a:solidFill>
                  <a:srgbClr val="345D54"/>
                </a:solidFill>
                <a:latin typeface="Helvetica Neue"/>
                <a:ea typeface="Helvetica Neue"/>
                <a:cs typeface="Helvetica Neue"/>
              </a:rPr>
              <a:t>for grocery operators</a:t>
            </a:r>
          </a:p>
        </p:txBody>
      </p:sp>
      <p:sp>
        <p:nvSpPr>
          <p:cNvPr id="4" name="">
            <a:extLst xmlns:a="http://schemas.openxmlformats.org/drawingml/2006/main">
              <a:ext uri="{FF2B5EF4-FFF2-40B4-BE49-F238E27FC236}">
                <a16:creationId xmlns:a16="http://schemas.microsoft.com/office/drawing/2014/main" id="{05701E47-8E24-4759-98DB-D0A8F5F8EC55}"/>
              </a:ext>
            </a:extLst>
          </p:cNvPr>
          <p:cNvSpPr>
            <a:spLocks xmlns:a="http://schemas.openxmlformats.org/drawingml/2006/main" noGrp="1"/>
          </p:cNvSpPr>
          <p:nvPr/>
        </p:nvSpPr>
        <p:spPr>
          <a:xfrm xmlns:a="http://schemas.openxmlformats.org/drawingml/2006/main">
            <a:off x="7239000" y="15906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D46"/>
                </a:solidFill>
                <a:latin typeface="Helvetica Neue"/>
                <a:ea typeface="Helvetica Neue"/>
                <a:cs typeface="Helvetica Neue"/>
              </a:defRPr>
            </a:pPr>
            <a:r>
              <a:rPr sz="1500" b="1">
                <a:solidFill>
                  <a:srgbClr val="174D46"/>
                </a:solidFill>
                <a:latin typeface="Helvetica Neue"/>
                <a:ea typeface="Helvetica Neue"/>
                <a:cs typeface="Helvetica Neue"/>
              </a:rPr>
              <a:t>THE PRODUCT</a:t>
            </a:r>
          </a:p>
        </p:txBody>
      </p:sp>
      <p:sp>
        <p:nvSpPr>
          <p:cNvPr id="5" name="">
            <a:extLst xmlns:a="http://schemas.openxmlformats.org/drawingml/2006/main">
              <a:ext uri="{FF2B5EF4-FFF2-40B4-BE49-F238E27FC236}">
                <a16:creationId xmlns:a16="http://schemas.microsoft.com/office/drawing/2014/main" id="{E0D140E7-A516-40C7-879B-47F65295E64F}"/>
              </a:ext>
            </a:extLst>
          </p:cNvPr>
          <p:cNvSpPr>
            <a:spLocks xmlns:a="http://schemas.openxmlformats.org/drawingml/2006/main" noGrp="1"/>
          </p:cNvSpPr>
          <p:nvPr/>
        </p:nvSpPr>
        <p:spPr>
          <a:xfrm xmlns:a="http://schemas.openxmlformats.org/drawingml/2006/main">
            <a:off x="7239000" y="201930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F39"/>
                </a:solidFill>
                <a:latin typeface="Helvetica Neue"/>
                <a:ea typeface="Helvetica Neue"/>
                <a:cs typeface="Helvetica Neue"/>
              </a:defRPr>
            </a:pPr>
            <a:r>
              <a:rPr sz="1875" b="0">
                <a:solidFill>
                  <a:srgbClr val="253F39"/>
                </a:solidFill>
                <a:latin typeface="Helvetica Neue"/>
                <a:ea typeface="Helvetica Neue"/>
                <a:cs typeface="Helvetica Neue"/>
              </a:rPr>
              <a:t>Investigates missing batch records.</a:t>
            </a:r>
          </a:p>
          <a:p xmlns:a="http://schemas.openxmlformats.org/drawingml/2006/main">
            <a:pPr>
              <a:defRPr sz="1875" b="0">
                <a:solidFill>
                  <a:srgbClr val="253F39"/>
                </a:solidFill>
                <a:latin typeface="Helvetica Neue"/>
                <a:ea typeface="Helvetica Neue"/>
                <a:cs typeface="Helvetica Neue"/>
              </a:defRPr>
            </a:pPr>
            <a:r>
              <a:rPr sz="1875" b="0">
                <a:solidFill>
                  <a:srgbClr val="253F39"/>
                </a:solidFill>
                <a:latin typeface="Helvetica Neue"/>
                <a:ea typeface="Helvetica Neue"/>
                <a:cs typeface="Helvetica Neue"/>
              </a:rPr>
              <a:t>Shows the source behind a decision.</a:t>
            </a:r>
          </a:p>
          <a:p xmlns:a="http://schemas.openxmlformats.org/drawingml/2006/main">
            <a:pPr>
              <a:defRPr sz="1875" b="0">
                <a:solidFill>
                  <a:srgbClr val="253F39"/>
                </a:solidFill>
                <a:latin typeface="Helvetica Neue"/>
                <a:ea typeface="Helvetica Neue"/>
                <a:cs typeface="Helvetica Neue"/>
              </a:defRPr>
            </a:pPr>
            <a:r>
              <a:rPr sz="1875" b="0">
                <a:solidFill>
                  <a:srgbClr val="253F39"/>
                </a:solidFill>
                <a:latin typeface="Helvetica Neue"/>
                <a:ea typeface="Helvetica Neue"/>
                <a:cs typeface="Helvetica Neue"/>
              </a:rPr>
              <a:t>Keeps uncertainty in human review.</a:t>
            </a:r>
          </a:p>
        </p:txBody>
      </p:sp>
      <p:sp>
        <p:nvSpPr>
          <p:cNvPr id="6" name="">
            <a:extLst xmlns:a="http://schemas.openxmlformats.org/drawingml/2006/main">
              <a:ext uri="{FF2B5EF4-FFF2-40B4-BE49-F238E27FC236}">
                <a16:creationId xmlns:a16="http://schemas.microsoft.com/office/drawing/2014/main" id="{102A372C-49B8-49B2-BA47-D44CDA48C191}"/>
              </a:ext>
            </a:extLst>
          </p:cNvPr>
          <p:cNvSpPr>
            <a:spLocks xmlns:a="http://schemas.openxmlformats.org/drawingml/2006/main" noGrp="1"/>
          </p:cNvSpPr>
          <p:nvPr/>
        </p:nvSpPr>
        <p:spPr>
          <a:xfrm xmlns:a="http://schemas.openxmlformats.org/drawingml/2006/main">
            <a:off x="7239000" y="36861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D46"/>
                </a:solidFill>
                <a:latin typeface="Helvetica Neue"/>
                <a:ea typeface="Helvetica Neue"/>
                <a:cs typeface="Helvetica Neue"/>
              </a:defRPr>
            </a:pPr>
            <a:r>
              <a:rPr sz="1500" b="1">
                <a:solidFill>
                  <a:srgbClr val="174D46"/>
                </a:solidFill>
                <a:latin typeface="Helvetica Neue"/>
                <a:ea typeface="Helvetica Neue"/>
                <a:cs typeface="Helvetica Neue"/>
              </a:rPr>
              <a:t>WHY NOW</a:t>
            </a:r>
          </a:p>
        </p:txBody>
      </p:sp>
      <p:sp>
        <p:nvSpPr>
          <p:cNvPr id="7" name="">
            <a:extLst xmlns:a="http://schemas.openxmlformats.org/drawingml/2006/main">
              <a:ext uri="{FF2B5EF4-FFF2-40B4-BE49-F238E27FC236}">
                <a16:creationId xmlns:a16="http://schemas.microsoft.com/office/drawing/2014/main" id="{07061B3C-A8DB-4CCF-BBE4-B974798E7980}"/>
              </a:ext>
            </a:extLst>
          </p:cNvPr>
          <p:cNvSpPr>
            <a:spLocks xmlns:a="http://schemas.openxmlformats.org/drawingml/2006/main" noGrp="1"/>
          </p:cNvSpPr>
          <p:nvPr/>
        </p:nvSpPr>
        <p:spPr>
          <a:xfrm xmlns:a="http://schemas.openxmlformats.org/drawingml/2006/main">
            <a:off x="7239000" y="411480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F39"/>
                </a:solidFill>
                <a:latin typeface="Helvetica Neue"/>
                <a:ea typeface="Helvetica Neue"/>
                <a:cs typeface="Helvetica Neue"/>
              </a:defRPr>
            </a:pPr>
            <a:r>
              <a:rPr sz="1875" b="0">
                <a:solidFill>
                  <a:srgbClr val="253F39"/>
                </a:solidFill>
                <a:latin typeface="Helvetica Neue"/>
                <a:ea typeface="Helvetica Neue"/>
                <a:cs typeface="Helvetica Neue"/>
              </a:rPr>
              <a:t>Public recall data and existing</a:t>
            </a:r>
          </a:p>
          <a:p xmlns:a="http://schemas.openxmlformats.org/drawingml/2006/main">
            <a:pPr>
              <a:defRPr sz="1875" b="0">
                <a:solidFill>
                  <a:srgbClr val="253F39"/>
                </a:solidFill>
                <a:latin typeface="Helvetica Neue"/>
                <a:ea typeface="Helvetica Neue"/>
                <a:cs typeface="Helvetica Neue"/>
              </a:defRPr>
            </a:pPr>
            <a:r>
              <a:rPr sz="1875" b="0">
                <a:solidFill>
                  <a:srgbClr val="253F39"/>
                </a:solidFill>
                <a:latin typeface="Helvetica Neue"/>
                <a:ea typeface="Helvetica Neue"/>
                <a:cs typeface="Helvetica Neue"/>
              </a:rPr>
              <a:t>delivery exports make a focused</a:t>
            </a:r>
          </a:p>
          <a:p xmlns:a="http://schemas.openxmlformats.org/drawingml/2006/main">
            <a:pPr>
              <a:defRPr sz="1875" b="0">
                <a:solidFill>
                  <a:srgbClr val="253F39"/>
                </a:solidFill>
                <a:latin typeface="Helvetica Neue"/>
                <a:ea typeface="Helvetica Neue"/>
                <a:cs typeface="Helvetica Neue"/>
              </a:defRPr>
            </a:pPr>
            <a:r>
              <a:rPr sz="1875" b="0">
                <a:solidFill>
                  <a:srgbClr val="253F39"/>
                </a:solidFill>
                <a:latin typeface="Helvetica Neue"/>
                <a:ea typeface="Helvetica Neue"/>
                <a:cs typeface="Helvetica Neue"/>
              </a:rPr>
              <a:t>pilot possible.</a:t>
            </a:r>
          </a:p>
        </p:txBody>
      </p:sp>
      <p:sp>
        <p:nvSpPr>
          <p:cNvPr id="8" name="">
            <a:extLst xmlns:a="http://schemas.openxmlformats.org/drawingml/2006/main">
              <a:ext uri="{FF2B5EF4-FFF2-40B4-BE49-F238E27FC236}">
                <a16:creationId xmlns:a16="http://schemas.microsoft.com/office/drawing/2014/main" id="{71F93A46-5D1C-456D-8F33-64C57EDF04D3}"/>
              </a:ext>
            </a:extLst>
          </p:cNvPr>
          <p:cNvSpPr>
            <a:spLocks xmlns:a="http://schemas.openxmlformats.org/drawingml/2006/main" noGrp="1"/>
          </p:cNvSpPr>
          <p:nvPr/>
        </p:nvSpPr>
        <p:spPr>
          <a:xfrm xmlns:a="http://schemas.openxmlformats.org/drawingml/2006/main">
            <a:off x="647700" y="53625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D46"/>
                </a:solidFill>
                <a:latin typeface="Helvetica Neue"/>
                <a:ea typeface="Helvetica Neue"/>
                <a:cs typeface="Helvetica Neue"/>
              </a:defRPr>
            </a:pPr>
            <a:r>
              <a:rPr sz="1500" b="1">
                <a:solidFill>
                  <a:srgbClr val="174D46"/>
                </a:solidFill>
                <a:latin typeface="Helvetica Neue"/>
                <a:ea typeface="Helvetica Neue"/>
                <a:cs typeface="Helvetica Neue"/>
              </a:rPr>
              <a:t>FIRST USERS</a:t>
            </a:r>
          </a:p>
        </p:txBody>
      </p:sp>
      <p:sp>
        <p:nvSpPr>
          <p:cNvPr id="9" name="">
            <a:extLst xmlns:a="http://schemas.openxmlformats.org/drawingml/2006/main">
              <a:ext uri="{FF2B5EF4-FFF2-40B4-BE49-F238E27FC236}">
                <a16:creationId xmlns:a16="http://schemas.microsoft.com/office/drawing/2014/main" id="{97519001-BF6E-47E4-A4CB-79B263003E1C}"/>
              </a:ext>
            </a:extLst>
          </p:cNvPr>
          <p:cNvSpPr>
            <a:spLocks xmlns:a="http://schemas.openxmlformats.org/drawingml/2006/main" noGrp="1"/>
          </p:cNvSpPr>
          <p:nvPr/>
        </p:nvSpPr>
        <p:spPr>
          <a:xfrm xmlns:a="http://schemas.openxmlformats.org/drawingml/2006/main">
            <a:off x="647700" y="57435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53F39"/>
                </a:solidFill>
                <a:latin typeface="Helvetica Neue"/>
                <a:ea typeface="Helvetica Neue"/>
                <a:cs typeface="Helvetica Neue"/>
              </a:defRPr>
            </a:pPr>
            <a:r>
              <a:rPr sz="2025" b="0">
                <a:solidFill>
                  <a:srgbClr val="253F39"/>
                </a:solidFill>
                <a:latin typeface="Helvetica Neue"/>
                <a:ea typeface="Helvetica Neue"/>
                <a:cs typeface="Helvetica Neue"/>
              </a:rPr>
              <a:t>Supervised grocery pilots using historical cases.</a:t>
            </a:r>
          </a:p>
          <a:p xmlns:a="http://schemas.openxmlformats.org/drawingml/2006/main">
            <a:pPr>
              <a:defRPr sz="2025" b="0">
                <a:solidFill>
                  <a:srgbClr val="253F39"/>
                </a:solidFill>
                <a:latin typeface="Helvetica Neue"/>
                <a:ea typeface="Helvetica Neue"/>
                <a:cs typeface="Helvetica Neue"/>
              </a:defRPr>
            </a:pPr>
            <a:r>
              <a:rPr sz="2025" b="0">
                <a:solidFill>
                  <a:srgbClr val="253F39"/>
                </a:solidFill>
                <a:latin typeface="Helvetica Neue"/>
                <a:ea typeface="Helvetica Neue"/>
                <a:cs typeface="Helvetica Neue"/>
              </a:rPr>
              <a:t>Compare investigation time and supported decisions.</a:t>
            </a:r>
          </a:p>
        </p:txBody>
      </p:sp>
    </p:spTree>
    <p:extLst>
      <p:ext uri="{BB962C8B-B14F-4D97-AF65-F5344CB8AC3E}">
        <p14:creationId xmlns:p14="http://schemas.microsoft.com/office/powerpoint/2010/main" val="11680119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2026-10-22T11:13:14.1480000Z</dcterms:created>
  <dcterms:modified xsi:type="dcterms:W3CDTF">2026-10-22T11:13:14.1480000Z</dcterms:modified>
</coreProperties>
</file>