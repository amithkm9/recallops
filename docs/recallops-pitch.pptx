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aba0d8d7ad460a" /><Relationship Type="http://schemas.openxmlformats.org/officeDocument/2006/relationships/extended-properties" Target="/docProps/app.xml" Id="Rcbb0c138e7ba44ac" /><Relationship Type="http://schemas.openxmlformats.org/officeDocument/2006/relationships/officeDocument" Target="/ppt/presentation.xml" Id="R37238604d6104ded" /></Relationships>
</file>

<file path=ppt/presentation.xml><?xml version="1.0" encoding="utf-8"?>
<p:presentation xmlns:p="http://schemas.openxmlformats.org/presentationml/2006/main">
  <p:sldMasterIdLst>
    <p:sldMasterId xmlns:r="http://schemas.openxmlformats.org/officeDocument/2006/relationships" id="2147483648" r:id="Ra98006ccf63d4c86"/>
  </p:sldMasterIdLst>
  <p:notesMasterIdLst>
    <p:notesMasterId xmlns:r="http://schemas.openxmlformats.org/officeDocument/2006/relationships" r:id="R0e9e8348e5644972"/>
  </p:notesMasterIdLst>
  <p:sldIdLst>
    <p:sldId xmlns:r="http://schemas.openxmlformats.org/officeDocument/2006/relationships" id="256" r:id="R2f376dcb157a4d7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657678c8d644bb" /><Relationship Type="http://schemas.openxmlformats.org/officeDocument/2006/relationships/slideMaster" Target="/ppt/slideMasters/slideMaster1.xml" Id="Ra98006ccf63d4c86" /><Relationship Type="http://schemas.openxmlformats.org/officeDocument/2006/relationships/notesMaster" Target="/ppt/notesMasters/notesMaster1.xml" Id="R0e9e8348e5644972" /><Relationship Type="http://schemas.openxmlformats.org/officeDocument/2006/relationships/presProps" Target="/ppt/presProps.xml" Id="Rda1b8a8074044451" /><Relationship Type="http://schemas.openxmlformats.org/officeDocument/2006/relationships/tableStyles" Target="/ppt/tableStyles.xml" Id="Rcae30ccfe31d4817" /><Relationship Type="http://schemas.openxmlformats.org/officeDocument/2006/relationships/slide" Target="/ppt/slides/slide1.xml" Id="R2f376dcb157a4d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c624e229bd46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1b7d5ba9f834167" /><Relationship Type="http://schemas.openxmlformats.org/officeDocument/2006/relationships/notesMaster" Target="/ppt/notesMasters/notesMaster1.xml" Id="Re6b73e9e6cba45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RecallOps single-slide pitch. Five criteria follow the supplied Future Founders: Data-Centric Agents brief.</a:t>
            </a:r>
          </a:p>
          <a:p xmlns:a="http://schemas.openxmlformats.org/drawingml/2006/main">
            <a:r>
              <a:t/>
            </a:r>
          </a:p>
          <a:p xmlns:a="http://schemas.openxmlformats.org/drawingml/2006/main">
            <a:r>
              <a:t>Customer Problem &amp; Product Value: grocery operators must connect recall batches to store stock when batch records are missing. This is a customer hypothesis for supervised pilots, with no adoption or measured time saving claimed.</a:t>
            </a:r>
          </a:p>
          <a:p xmlns:a="http://schemas.openxmlformats.org/drawingml/2006/main">
            <a:r>
              <a:t>Agent Capability: a bounded investigator retrieves evidence, requests explicit human document-to-stock association and reassesses as evidence changes. The optional model can choose allowlisted read-only retrieval actions. Deterministic checks govern stock decisions and internal holds. Demo: 24 unknown-batch packets become affected after confirmation of D104, while 18 other-batch packets are outside this specific recall. A contradiction reopens review and preserves the hold. This is an internal workflow, not a point-of-sale block.</a:t>
            </a:r>
          </a:p>
          <a:p xmlns:a="http://schemas.openxmlformats.org/drawingml/2006/main">
            <a:r>
              <a:t>Data at the Core: official RappelConso data, inventory and delivery documents live in PostgreSQL with versions, provenance and audit records. Durable events trigger investigation. Archived historical official recall: https://rappel.conso.gouv.fr/fiche-rappel/17010/Interne . Stock, delivery and supplier records are fictional.</a:t>
            </a:r>
          </a:p>
          <a:p xmlns:a="http://schemas.openxmlformats.org/drawingml/2006/main">
            <a:r>
              <a:t>Evidence It Works: https://github.com/amithkm9/RecallOps/blob/main/docs/fresh-e2e-results.json . Recorded 2026-10-22. Twelve developer-authored synthetic cases, seven supplied human setup confirmations and zero model calls. Baseline matches 6/12 expected verdicts, adaptive with memory 12/12. Tool calls: baseline 134, fixed retrieval 202, adaptive with memory 152, adaptive without memory 132. Both adaptive variants and fixed retrieval match 12/12. Expected verdicts include review and conflict. This is not 100% autonomous resolution or independently validated production accuracy. Memory showed no accuracy gain. The isolated fresh report records 59 verification entries.</a:t>
            </a:r>
          </a:p>
          <a:p xmlns:a="http://schemas.openxmlformats.org/drawingml/2006/main">
            <a:r>
              <a:t>Execution &amp; Pitch: working local end-to-end demo and public repository at https://github.com/amithkm9/RecallOps . Proposed first-user route: direct outreach to independent grocery operators for supervised historical pilots with authorized stock exports. Compare investigation time and supported decisions against their current process. No pilots or deployments are claimed. Aiven Runtime deployment remains pending. See https://github.com/amithkm9/RecallOps/blob/main/docs/pilot-plan.md .</a:t>
            </a:r>
          </a:p>
          <a:p xmlns:a="http://schemas.openxmlformats.org/drawingml/2006/main">
            <a:r>
              <a:t/>
            </a:r>
          </a:p>
          <a:p xmlns:a="http://schemas.openxmlformats.org/drawingml/2006/main">
            <a:r>
              <a:t>Suggested spoken pitch: RecallOps helps grocery operators establish which batches need action. When stock is missing a batch number, the investigator retrieves delivery evidence and asks an operator to confirm the association. Every decision retains its sources, and new evidence can reopen review. Our demo holds 24 affected packets and distinguishes 18 outside the recall. In twelve synthetic cases, the investigator matched twelve expected verdicts versus six for the baseline, with human confirmations supplied. Our next step is supervised grocery pilots to measure investigation time and decision quality.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24f85bc7594d4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5fb49e3b014c1c" /><Relationship Type="http://schemas.openxmlformats.org/officeDocument/2006/relationships/slideLayout" Target="/ppt/slideLayouts/slideLayout1.xml" Id="Rb7e4c7d4d64345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e4c7d4d64345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856d2e35be14adb" /><Relationship Type="http://schemas.openxmlformats.org/officeDocument/2006/relationships/notesSlide" Target="/ppt/notesSlides/notesSlide1.xml" Id="Re3691a49da51468b" /></Relationships>
</file>

<file path=ppt/slides/slide1.xml><?xml version="1.0" encoding="utf-8"?>
<p:sld xmlns:p="http://schemas.openxmlformats.org/presentationml/2006/main">
  <p:cSld>
    <p:bg>
      <p:bgPr>
        <a:solidFill xmlns:a="http://schemas.openxmlformats.org/drawingml/2006/main">
          <a:srgbClr val="E8EF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0F2364B-551B-4460-888F-E0C7B5AEB2D6}"/>
              </a:ext>
            </a:extLst>
          </p:cNvPr>
          <p:cNvSpPr>
            <a:spLocks xmlns:a="http://schemas.openxmlformats.org/drawingml/2006/main" noGrp="1"/>
          </p:cNvSpPr>
          <p:nvPr/>
        </p:nvSpPr>
        <p:spPr>
          <a:xfrm xmlns:a="http://schemas.openxmlformats.org/drawingml/2006/main">
            <a:off x="457200" y="26670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174D46"/>
                </a:solidFill>
                <a:latin typeface="Helvetica Neue"/>
                <a:ea typeface="Helvetica Neue"/>
                <a:cs typeface="Helvetica Neue"/>
              </a:defRPr>
            </a:defPPr>
            <a:lvl1pPr>
              <a:defRPr sz="3900" b="1">
                <a:solidFill>
                  <a:srgbClr val="174D46"/>
                </a:solidFill>
                <a:latin typeface="Helvetica Neue"/>
                <a:ea typeface="Helvetica Neue"/>
                <a:cs typeface="Helvetica Neue"/>
              </a:defRPr>
            </a:lvl1pPr>
            <a:lvl2pPr>
              <a:defRPr sz="3900" b="1">
                <a:solidFill>
                  <a:srgbClr val="174D46"/>
                </a:solidFill>
                <a:latin typeface="Helvetica Neue"/>
                <a:ea typeface="Helvetica Neue"/>
                <a:cs typeface="Helvetica Neue"/>
              </a:defRPr>
            </a:lvl2pPr>
            <a:lvl3pPr>
              <a:defRPr sz="3900" b="1">
                <a:solidFill>
                  <a:srgbClr val="174D46"/>
                </a:solidFill>
                <a:latin typeface="Helvetica Neue"/>
                <a:ea typeface="Helvetica Neue"/>
                <a:cs typeface="Helvetica Neue"/>
              </a:defRPr>
            </a:lvl3pPr>
            <a:lvl4pPr>
              <a:defRPr sz="3900" b="1">
                <a:solidFill>
                  <a:srgbClr val="174D46"/>
                </a:solidFill>
                <a:latin typeface="Helvetica Neue"/>
                <a:ea typeface="Helvetica Neue"/>
                <a:cs typeface="Helvetica Neue"/>
              </a:defRPr>
            </a:lvl4pPr>
            <a:lvl5pPr>
              <a:defRPr sz="3900" b="1">
                <a:solidFill>
                  <a:srgbClr val="174D46"/>
                </a:solidFill>
                <a:latin typeface="Helvetica Neue"/>
                <a:ea typeface="Helvetica Neue"/>
                <a:cs typeface="Helvetica Neue"/>
              </a:defRPr>
            </a:lvl5pPr>
            <a:lvl6pPr>
              <a:defRPr sz="3900" b="1">
                <a:solidFill>
                  <a:srgbClr val="174D46"/>
                </a:solidFill>
                <a:latin typeface="Helvetica Neue"/>
                <a:ea typeface="Helvetica Neue"/>
                <a:cs typeface="Helvetica Neue"/>
              </a:defRPr>
            </a:lvl6pPr>
            <a:lvl7pPr>
              <a:defRPr sz="3900" b="1">
                <a:solidFill>
                  <a:srgbClr val="174D46"/>
                </a:solidFill>
                <a:latin typeface="Helvetica Neue"/>
                <a:ea typeface="Helvetica Neue"/>
                <a:cs typeface="Helvetica Neue"/>
              </a:defRPr>
            </a:lvl7pPr>
            <a:lvl8pPr>
              <a:defRPr sz="3900" b="1">
                <a:solidFill>
                  <a:srgbClr val="174D46"/>
                </a:solidFill>
                <a:latin typeface="Helvetica Neue"/>
                <a:ea typeface="Helvetica Neue"/>
                <a:cs typeface="Helvetica Neue"/>
              </a:defRPr>
            </a:lvl8pPr>
            <a:lvl9pPr>
              <a:defRPr sz="3900" b="1">
                <a:solidFill>
                  <a:srgbClr val="174D46"/>
                </a:solidFill>
                <a:latin typeface="Helvetica Neue"/>
                <a:ea typeface="Helvetica Neue"/>
                <a:cs typeface="Helvetica Neue"/>
              </a:defRPr>
            </a:lvl9pPr>
          </a:lstStyle>
          <a:p xmlns:a="http://schemas.openxmlformats.org/drawingml/2006/main">
            <a:pPr>
              <a:buNone/>
              <a:defRPr sz="3900" b="1">
                <a:solidFill>
                  <a:srgbClr val="174D46"/>
                </a:solidFill>
                <a:latin typeface="Helvetica Neue"/>
                <a:ea typeface="Helvetica Neue"/>
                <a:cs typeface="Helvetica Neue"/>
              </a:defRPr>
            </a:pPr>
            <a:r>
              <a:rPr sz="3900" b="1">
                <a:solidFill>
                  <a:srgbClr val="174D46"/>
                </a:solidFill>
                <a:latin typeface="Helvetica Neue"/>
                <a:ea typeface="Helvetica Neue"/>
                <a:cs typeface="Helvetica Neue"/>
              </a:rPr>
              <a:t>RecallOps</a:t>
            </a:r>
          </a:p>
        </p:txBody>
      </p:sp>
      <p:sp>
        <p:nvSpPr>
          <p:cNvPr id="2" name="">
            <a:extLst xmlns:a="http://schemas.openxmlformats.org/drawingml/2006/main">
              <a:ext uri="{FF2B5EF4-FFF2-40B4-BE49-F238E27FC236}">
                <a16:creationId xmlns:a16="http://schemas.microsoft.com/office/drawing/2014/main" id="{2912BEB3-512C-4806-A19A-14078ACADF71}"/>
              </a:ext>
            </a:extLst>
          </p:cNvPr>
          <p:cNvSpPr>
            <a:spLocks xmlns:a="http://schemas.openxmlformats.org/drawingml/2006/main" noGrp="1"/>
          </p:cNvSpPr>
          <p:nvPr/>
        </p:nvSpPr>
        <p:spPr>
          <a:xfrm xmlns:a="http://schemas.openxmlformats.org/drawingml/2006/main">
            <a:off x="457200" y="933450"/>
            <a:ext cx="11277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0">
                <a:solidFill>
                  <a:srgbClr val="345D54"/>
                </a:solidFill>
                <a:latin typeface="Helvetica Neue"/>
                <a:ea typeface="Helvetica Neue"/>
                <a:cs typeface="Helvetica Neue"/>
              </a:defRPr>
            </a:defPPr>
            <a:lvl1pPr>
              <a:defRPr sz="2025" b="0">
                <a:solidFill>
                  <a:srgbClr val="345D54"/>
                </a:solidFill>
                <a:latin typeface="Helvetica Neue"/>
                <a:ea typeface="Helvetica Neue"/>
                <a:cs typeface="Helvetica Neue"/>
              </a:defRPr>
            </a:lvl1pPr>
            <a:lvl2pPr>
              <a:defRPr sz="2025" b="0">
                <a:solidFill>
                  <a:srgbClr val="345D54"/>
                </a:solidFill>
                <a:latin typeface="Helvetica Neue"/>
                <a:ea typeface="Helvetica Neue"/>
                <a:cs typeface="Helvetica Neue"/>
              </a:defRPr>
            </a:lvl2pPr>
            <a:lvl3pPr>
              <a:defRPr sz="2025" b="0">
                <a:solidFill>
                  <a:srgbClr val="345D54"/>
                </a:solidFill>
                <a:latin typeface="Helvetica Neue"/>
                <a:ea typeface="Helvetica Neue"/>
                <a:cs typeface="Helvetica Neue"/>
              </a:defRPr>
            </a:lvl3pPr>
            <a:lvl4pPr>
              <a:defRPr sz="2025" b="0">
                <a:solidFill>
                  <a:srgbClr val="345D54"/>
                </a:solidFill>
                <a:latin typeface="Helvetica Neue"/>
                <a:ea typeface="Helvetica Neue"/>
                <a:cs typeface="Helvetica Neue"/>
              </a:defRPr>
            </a:lvl4pPr>
            <a:lvl5pPr>
              <a:defRPr sz="2025" b="0">
                <a:solidFill>
                  <a:srgbClr val="345D54"/>
                </a:solidFill>
                <a:latin typeface="Helvetica Neue"/>
                <a:ea typeface="Helvetica Neue"/>
                <a:cs typeface="Helvetica Neue"/>
              </a:defRPr>
            </a:lvl5pPr>
            <a:lvl6pPr>
              <a:defRPr sz="2025" b="0">
                <a:solidFill>
                  <a:srgbClr val="345D54"/>
                </a:solidFill>
                <a:latin typeface="Helvetica Neue"/>
                <a:ea typeface="Helvetica Neue"/>
                <a:cs typeface="Helvetica Neue"/>
              </a:defRPr>
            </a:lvl6pPr>
            <a:lvl7pPr>
              <a:defRPr sz="2025" b="0">
                <a:solidFill>
                  <a:srgbClr val="345D54"/>
                </a:solidFill>
                <a:latin typeface="Helvetica Neue"/>
                <a:ea typeface="Helvetica Neue"/>
                <a:cs typeface="Helvetica Neue"/>
              </a:defRPr>
            </a:lvl7pPr>
            <a:lvl8pPr>
              <a:defRPr sz="2025" b="0">
                <a:solidFill>
                  <a:srgbClr val="345D54"/>
                </a:solidFill>
                <a:latin typeface="Helvetica Neue"/>
                <a:ea typeface="Helvetica Neue"/>
                <a:cs typeface="Helvetica Neue"/>
              </a:defRPr>
            </a:lvl8pPr>
            <a:lvl9pPr>
              <a:defRPr sz="2025" b="0">
                <a:solidFill>
                  <a:srgbClr val="345D54"/>
                </a:solidFill>
                <a:latin typeface="Helvetica Neue"/>
                <a:ea typeface="Helvetica Neue"/>
                <a:cs typeface="Helvetica Neue"/>
              </a:defRPr>
            </a:lvl9pPr>
          </a:lstStyle>
          <a:p xmlns:a="http://schemas.openxmlformats.org/drawingml/2006/main">
            <a:pPr>
              <a:buNone/>
              <a:defRPr sz="2025" b="0">
                <a:solidFill>
                  <a:srgbClr val="345D54"/>
                </a:solidFill>
                <a:latin typeface="Helvetica Neue"/>
                <a:ea typeface="Helvetica Neue"/>
                <a:cs typeface="Helvetica Neue"/>
              </a:defRPr>
            </a:pPr>
            <a:r>
              <a:rPr sz="2025" b="0">
                <a:solidFill>
                  <a:srgbClr val="345D54"/>
                </a:solidFill>
                <a:latin typeface="Helvetica Neue"/>
                <a:ea typeface="Helvetica Neue"/>
                <a:cs typeface="Helvetica Neue"/>
              </a:rPr>
              <a:t>Which batches need action? Recall investigation for grocery operators.</a:t>
            </a:r>
          </a:p>
        </p:txBody>
      </p:sp>
      <p:sp>
        <p:nvSpPr>
          <p:cNvPr id="3" name="">
            <a:extLst xmlns:a="http://schemas.openxmlformats.org/drawingml/2006/main">
              <a:ext uri="{FF2B5EF4-FFF2-40B4-BE49-F238E27FC236}">
                <a16:creationId xmlns:a16="http://schemas.microsoft.com/office/drawing/2014/main" id="{FB0D0895-F10A-402C-ABB1-5F4508C35763}"/>
              </a:ext>
            </a:extLst>
          </p:cNvPr>
          <p:cNvSpPr>
            <a:spLocks xmlns:a="http://schemas.openxmlformats.org/drawingml/2006/main" noGrp="1"/>
          </p:cNvSpPr>
          <p:nvPr/>
        </p:nvSpPr>
        <p:spPr>
          <a:xfrm xmlns:a="http://schemas.openxmlformats.org/drawingml/2006/main">
            <a:off x="457200" y="157162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defRPr sz="1575" b="1">
                <a:solidFill>
                  <a:srgbClr val="174D46"/>
                </a:solidFill>
                <a:latin typeface="Helvetica Neue"/>
                <a:ea typeface="Helvetica Neue"/>
                <a:cs typeface="Helvetica Neue"/>
              </a:defRPr>
            </a:lvl1pPr>
            <a:lvl2pPr>
              <a:defRPr sz="1575" b="1">
                <a:solidFill>
                  <a:srgbClr val="174D46"/>
                </a:solidFill>
                <a:latin typeface="Helvetica Neue"/>
                <a:ea typeface="Helvetica Neue"/>
                <a:cs typeface="Helvetica Neue"/>
              </a:defRPr>
            </a:lvl2pPr>
            <a:lvl3pPr>
              <a:defRPr sz="1575" b="1">
                <a:solidFill>
                  <a:srgbClr val="174D46"/>
                </a:solidFill>
                <a:latin typeface="Helvetica Neue"/>
                <a:ea typeface="Helvetica Neue"/>
                <a:cs typeface="Helvetica Neue"/>
              </a:defRPr>
            </a:lvl3pPr>
            <a:lvl4pPr>
              <a:defRPr sz="1575" b="1">
                <a:solidFill>
                  <a:srgbClr val="174D46"/>
                </a:solidFill>
                <a:latin typeface="Helvetica Neue"/>
                <a:ea typeface="Helvetica Neue"/>
                <a:cs typeface="Helvetica Neue"/>
              </a:defRPr>
            </a:lvl4pPr>
            <a:lvl5pPr>
              <a:defRPr sz="1575" b="1">
                <a:solidFill>
                  <a:srgbClr val="174D46"/>
                </a:solidFill>
                <a:latin typeface="Helvetica Neue"/>
                <a:ea typeface="Helvetica Neue"/>
                <a:cs typeface="Helvetica Neue"/>
              </a:defRPr>
            </a:lvl5pPr>
            <a:lvl6pPr>
              <a:defRPr sz="1575" b="1">
                <a:solidFill>
                  <a:srgbClr val="174D46"/>
                </a:solidFill>
                <a:latin typeface="Helvetica Neue"/>
                <a:ea typeface="Helvetica Neue"/>
                <a:cs typeface="Helvetica Neue"/>
              </a:defRPr>
            </a:lvl6pPr>
            <a:lvl7pPr>
              <a:defRPr sz="1575" b="1">
                <a:solidFill>
                  <a:srgbClr val="174D46"/>
                </a:solidFill>
                <a:latin typeface="Helvetica Neue"/>
                <a:ea typeface="Helvetica Neue"/>
                <a:cs typeface="Helvetica Neue"/>
              </a:defRPr>
            </a:lvl7pPr>
            <a:lvl8pPr>
              <a:defRPr sz="1575" b="1">
                <a:solidFill>
                  <a:srgbClr val="174D46"/>
                </a:solidFill>
                <a:latin typeface="Helvetica Neue"/>
                <a:ea typeface="Helvetica Neue"/>
                <a:cs typeface="Helvetica Neue"/>
              </a:defRPr>
            </a:lvl8pPr>
            <a:lvl9pPr>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1. Customer Problem &amp; Product Value</a:t>
            </a:r>
          </a:p>
        </p:txBody>
      </p:sp>
      <p:sp>
        <p:nvSpPr>
          <p:cNvPr id="4" name="">
            <a:extLst xmlns:a="http://schemas.openxmlformats.org/drawingml/2006/main">
              <a:ext uri="{FF2B5EF4-FFF2-40B4-BE49-F238E27FC236}">
                <a16:creationId xmlns:a16="http://schemas.microsoft.com/office/drawing/2014/main" id="{05701E47-8E24-4759-98DB-D0A8F5F8EC55}"/>
              </a:ext>
            </a:extLst>
          </p:cNvPr>
          <p:cNvSpPr>
            <a:spLocks xmlns:a="http://schemas.openxmlformats.org/drawingml/2006/main" noGrp="1"/>
          </p:cNvSpPr>
          <p:nvPr/>
        </p:nvSpPr>
        <p:spPr>
          <a:xfrm xmlns:a="http://schemas.openxmlformats.org/drawingml/2006/main">
            <a:off x="457200" y="1943100"/>
            <a:ext cx="6238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253F39"/>
                </a:solidFill>
                <a:latin typeface="Helvetica Neue"/>
                <a:ea typeface="Helvetica Neue"/>
                <a:cs typeface="Helvetica Neue"/>
              </a:defRPr>
            </a:defPPr>
            <a:lvl1pPr>
              <a:defRPr sz="1800" b="0">
                <a:solidFill>
                  <a:srgbClr val="253F39"/>
                </a:solidFill>
                <a:latin typeface="Helvetica Neue"/>
                <a:ea typeface="Helvetica Neue"/>
                <a:cs typeface="Helvetica Neue"/>
              </a:defRPr>
            </a:lvl1pPr>
            <a:lvl2pPr>
              <a:defRPr sz="1800" b="0">
                <a:solidFill>
                  <a:srgbClr val="253F39"/>
                </a:solidFill>
                <a:latin typeface="Helvetica Neue"/>
                <a:ea typeface="Helvetica Neue"/>
                <a:cs typeface="Helvetica Neue"/>
              </a:defRPr>
            </a:lvl2pPr>
            <a:lvl3pPr>
              <a:defRPr sz="1800" b="0">
                <a:solidFill>
                  <a:srgbClr val="253F39"/>
                </a:solidFill>
                <a:latin typeface="Helvetica Neue"/>
                <a:ea typeface="Helvetica Neue"/>
                <a:cs typeface="Helvetica Neue"/>
              </a:defRPr>
            </a:lvl3pPr>
            <a:lvl4pPr>
              <a:defRPr sz="1800" b="0">
                <a:solidFill>
                  <a:srgbClr val="253F39"/>
                </a:solidFill>
                <a:latin typeface="Helvetica Neue"/>
                <a:ea typeface="Helvetica Neue"/>
                <a:cs typeface="Helvetica Neue"/>
              </a:defRPr>
            </a:lvl4pPr>
            <a:lvl5pPr>
              <a:defRPr sz="1800" b="0">
                <a:solidFill>
                  <a:srgbClr val="253F39"/>
                </a:solidFill>
                <a:latin typeface="Helvetica Neue"/>
                <a:ea typeface="Helvetica Neue"/>
                <a:cs typeface="Helvetica Neue"/>
              </a:defRPr>
            </a:lvl5pPr>
            <a:lvl6pPr>
              <a:defRPr sz="1800" b="0">
                <a:solidFill>
                  <a:srgbClr val="253F39"/>
                </a:solidFill>
                <a:latin typeface="Helvetica Neue"/>
                <a:ea typeface="Helvetica Neue"/>
                <a:cs typeface="Helvetica Neue"/>
              </a:defRPr>
            </a:lvl6pPr>
            <a:lvl7pPr>
              <a:defRPr sz="1800" b="0">
                <a:solidFill>
                  <a:srgbClr val="253F39"/>
                </a:solidFill>
                <a:latin typeface="Helvetica Neue"/>
                <a:ea typeface="Helvetica Neue"/>
                <a:cs typeface="Helvetica Neue"/>
              </a:defRPr>
            </a:lvl7pPr>
            <a:lvl8pPr>
              <a:defRPr sz="1800" b="0">
                <a:solidFill>
                  <a:srgbClr val="253F39"/>
                </a:solidFill>
                <a:latin typeface="Helvetica Neue"/>
                <a:ea typeface="Helvetica Neue"/>
                <a:cs typeface="Helvetica Neue"/>
              </a:defRPr>
            </a:lvl8pPr>
            <a:lvl9pPr>
              <a:defRPr sz="1800" b="0">
                <a:solidFill>
                  <a:srgbClr val="253F39"/>
                </a:solidFill>
                <a:latin typeface="Helvetica Neue"/>
                <a:ea typeface="Helvetica Neue"/>
                <a:cs typeface="Helvetica Neue"/>
              </a:defRPr>
            </a:lvl9pPr>
          </a:lstStyle>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Missing batch records make recalls hard to act on.</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Identify affected stock with traceable evidence.</a:t>
            </a:r>
          </a:p>
        </p:txBody>
      </p:sp>
      <p:sp>
        <p:nvSpPr>
          <p:cNvPr id="5" name="">
            <a:extLst xmlns:a="http://schemas.openxmlformats.org/drawingml/2006/main">
              <a:ext uri="{FF2B5EF4-FFF2-40B4-BE49-F238E27FC236}">
                <a16:creationId xmlns:a16="http://schemas.microsoft.com/office/drawing/2014/main" id="{E0D140E7-A516-40C7-879B-47F65295E64F}"/>
              </a:ext>
            </a:extLst>
          </p:cNvPr>
          <p:cNvSpPr>
            <a:spLocks xmlns:a="http://schemas.openxmlformats.org/drawingml/2006/main" noGrp="1"/>
          </p:cNvSpPr>
          <p:nvPr/>
        </p:nvSpPr>
        <p:spPr>
          <a:xfrm xmlns:a="http://schemas.openxmlformats.org/drawingml/2006/main">
            <a:off x="457200" y="290512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defRPr sz="1575" b="1">
                <a:solidFill>
                  <a:srgbClr val="174D46"/>
                </a:solidFill>
                <a:latin typeface="Helvetica Neue"/>
                <a:ea typeface="Helvetica Neue"/>
                <a:cs typeface="Helvetica Neue"/>
              </a:defRPr>
            </a:lvl1pPr>
            <a:lvl2pPr>
              <a:defRPr sz="1575" b="1">
                <a:solidFill>
                  <a:srgbClr val="174D46"/>
                </a:solidFill>
                <a:latin typeface="Helvetica Neue"/>
                <a:ea typeface="Helvetica Neue"/>
                <a:cs typeface="Helvetica Neue"/>
              </a:defRPr>
            </a:lvl2pPr>
            <a:lvl3pPr>
              <a:defRPr sz="1575" b="1">
                <a:solidFill>
                  <a:srgbClr val="174D46"/>
                </a:solidFill>
                <a:latin typeface="Helvetica Neue"/>
                <a:ea typeface="Helvetica Neue"/>
                <a:cs typeface="Helvetica Neue"/>
              </a:defRPr>
            </a:lvl3pPr>
            <a:lvl4pPr>
              <a:defRPr sz="1575" b="1">
                <a:solidFill>
                  <a:srgbClr val="174D46"/>
                </a:solidFill>
                <a:latin typeface="Helvetica Neue"/>
                <a:ea typeface="Helvetica Neue"/>
                <a:cs typeface="Helvetica Neue"/>
              </a:defRPr>
            </a:lvl4pPr>
            <a:lvl5pPr>
              <a:defRPr sz="1575" b="1">
                <a:solidFill>
                  <a:srgbClr val="174D46"/>
                </a:solidFill>
                <a:latin typeface="Helvetica Neue"/>
                <a:ea typeface="Helvetica Neue"/>
                <a:cs typeface="Helvetica Neue"/>
              </a:defRPr>
            </a:lvl5pPr>
            <a:lvl6pPr>
              <a:defRPr sz="1575" b="1">
                <a:solidFill>
                  <a:srgbClr val="174D46"/>
                </a:solidFill>
                <a:latin typeface="Helvetica Neue"/>
                <a:ea typeface="Helvetica Neue"/>
                <a:cs typeface="Helvetica Neue"/>
              </a:defRPr>
            </a:lvl6pPr>
            <a:lvl7pPr>
              <a:defRPr sz="1575" b="1">
                <a:solidFill>
                  <a:srgbClr val="174D46"/>
                </a:solidFill>
                <a:latin typeface="Helvetica Neue"/>
                <a:ea typeface="Helvetica Neue"/>
                <a:cs typeface="Helvetica Neue"/>
              </a:defRPr>
            </a:lvl7pPr>
            <a:lvl8pPr>
              <a:defRPr sz="1575" b="1">
                <a:solidFill>
                  <a:srgbClr val="174D46"/>
                </a:solidFill>
                <a:latin typeface="Helvetica Neue"/>
                <a:ea typeface="Helvetica Neue"/>
                <a:cs typeface="Helvetica Neue"/>
              </a:defRPr>
            </a:lvl8pPr>
            <a:lvl9pPr>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2. Agent Capability</a:t>
            </a:r>
          </a:p>
        </p:txBody>
      </p:sp>
      <p:sp>
        <p:nvSpPr>
          <p:cNvPr id="6" name="">
            <a:extLst xmlns:a="http://schemas.openxmlformats.org/drawingml/2006/main">
              <a:ext uri="{FF2B5EF4-FFF2-40B4-BE49-F238E27FC236}">
                <a16:creationId xmlns:a16="http://schemas.microsoft.com/office/drawing/2014/main" id="{102A372C-49B8-49B2-BA47-D44CDA48C191}"/>
              </a:ext>
            </a:extLst>
          </p:cNvPr>
          <p:cNvSpPr>
            <a:spLocks xmlns:a="http://schemas.openxmlformats.org/drawingml/2006/main" noGrp="1"/>
          </p:cNvSpPr>
          <p:nvPr/>
        </p:nvSpPr>
        <p:spPr>
          <a:xfrm xmlns:a="http://schemas.openxmlformats.org/drawingml/2006/main">
            <a:off x="457200" y="3276600"/>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253F39"/>
                </a:solidFill>
                <a:latin typeface="Helvetica Neue"/>
                <a:ea typeface="Helvetica Neue"/>
                <a:cs typeface="Helvetica Neue"/>
              </a:defRPr>
            </a:defPPr>
            <a:lvl1pPr>
              <a:defRPr sz="1800" b="0">
                <a:solidFill>
                  <a:srgbClr val="253F39"/>
                </a:solidFill>
                <a:latin typeface="Helvetica Neue"/>
                <a:ea typeface="Helvetica Neue"/>
                <a:cs typeface="Helvetica Neue"/>
              </a:defRPr>
            </a:lvl1pPr>
            <a:lvl2pPr>
              <a:defRPr sz="1800" b="0">
                <a:solidFill>
                  <a:srgbClr val="253F39"/>
                </a:solidFill>
                <a:latin typeface="Helvetica Neue"/>
                <a:ea typeface="Helvetica Neue"/>
                <a:cs typeface="Helvetica Neue"/>
              </a:defRPr>
            </a:lvl2pPr>
            <a:lvl3pPr>
              <a:defRPr sz="1800" b="0">
                <a:solidFill>
                  <a:srgbClr val="253F39"/>
                </a:solidFill>
                <a:latin typeface="Helvetica Neue"/>
                <a:ea typeface="Helvetica Neue"/>
                <a:cs typeface="Helvetica Neue"/>
              </a:defRPr>
            </a:lvl3pPr>
            <a:lvl4pPr>
              <a:defRPr sz="1800" b="0">
                <a:solidFill>
                  <a:srgbClr val="253F39"/>
                </a:solidFill>
                <a:latin typeface="Helvetica Neue"/>
                <a:ea typeface="Helvetica Neue"/>
                <a:cs typeface="Helvetica Neue"/>
              </a:defRPr>
            </a:lvl4pPr>
            <a:lvl5pPr>
              <a:defRPr sz="1800" b="0">
                <a:solidFill>
                  <a:srgbClr val="253F39"/>
                </a:solidFill>
                <a:latin typeface="Helvetica Neue"/>
                <a:ea typeface="Helvetica Neue"/>
                <a:cs typeface="Helvetica Neue"/>
              </a:defRPr>
            </a:lvl5pPr>
            <a:lvl6pPr>
              <a:defRPr sz="1800" b="0">
                <a:solidFill>
                  <a:srgbClr val="253F39"/>
                </a:solidFill>
                <a:latin typeface="Helvetica Neue"/>
                <a:ea typeface="Helvetica Neue"/>
                <a:cs typeface="Helvetica Neue"/>
              </a:defRPr>
            </a:lvl6pPr>
            <a:lvl7pPr>
              <a:defRPr sz="1800" b="0">
                <a:solidFill>
                  <a:srgbClr val="253F39"/>
                </a:solidFill>
                <a:latin typeface="Helvetica Neue"/>
                <a:ea typeface="Helvetica Neue"/>
                <a:cs typeface="Helvetica Neue"/>
              </a:defRPr>
            </a:lvl7pPr>
            <a:lvl8pPr>
              <a:defRPr sz="1800" b="0">
                <a:solidFill>
                  <a:srgbClr val="253F39"/>
                </a:solidFill>
                <a:latin typeface="Helvetica Neue"/>
                <a:ea typeface="Helvetica Neue"/>
                <a:cs typeface="Helvetica Neue"/>
              </a:defRPr>
            </a:lvl8pPr>
            <a:lvl9pPr>
              <a:defRPr sz="1800" b="0">
                <a:solidFill>
                  <a:srgbClr val="253F39"/>
                </a:solidFill>
                <a:latin typeface="Helvetica Neue"/>
                <a:ea typeface="Helvetica Neue"/>
                <a:cs typeface="Helvetica Neue"/>
              </a:defRPr>
            </a:lvl9pPr>
          </a:lstStyle>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Search delivery records, ask for confirmation, then</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reassess. Conflicts reopen human review.</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Demo: 24 packets held, 18 outside this recall.</a:t>
            </a:r>
          </a:p>
        </p:txBody>
      </p:sp>
      <p:sp>
        <p:nvSpPr>
          <p:cNvPr id="7" name="">
            <a:extLst xmlns:a="http://schemas.openxmlformats.org/drawingml/2006/main">
              <a:ext uri="{FF2B5EF4-FFF2-40B4-BE49-F238E27FC236}">
                <a16:creationId xmlns:a16="http://schemas.microsoft.com/office/drawing/2014/main" id="{07061B3C-A8DB-4CCF-BBE4-B974798E7980}"/>
              </a:ext>
            </a:extLst>
          </p:cNvPr>
          <p:cNvSpPr>
            <a:spLocks xmlns:a="http://schemas.openxmlformats.org/drawingml/2006/main" noGrp="1"/>
          </p:cNvSpPr>
          <p:nvPr/>
        </p:nvSpPr>
        <p:spPr>
          <a:xfrm xmlns:a="http://schemas.openxmlformats.org/drawingml/2006/main">
            <a:off x="457200" y="44767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defRPr sz="1575" b="1">
                <a:solidFill>
                  <a:srgbClr val="174D46"/>
                </a:solidFill>
                <a:latin typeface="Helvetica Neue"/>
                <a:ea typeface="Helvetica Neue"/>
                <a:cs typeface="Helvetica Neue"/>
              </a:defRPr>
            </a:lvl1pPr>
            <a:lvl2pPr>
              <a:defRPr sz="1575" b="1">
                <a:solidFill>
                  <a:srgbClr val="174D46"/>
                </a:solidFill>
                <a:latin typeface="Helvetica Neue"/>
                <a:ea typeface="Helvetica Neue"/>
                <a:cs typeface="Helvetica Neue"/>
              </a:defRPr>
            </a:lvl2pPr>
            <a:lvl3pPr>
              <a:defRPr sz="1575" b="1">
                <a:solidFill>
                  <a:srgbClr val="174D46"/>
                </a:solidFill>
                <a:latin typeface="Helvetica Neue"/>
                <a:ea typeface="Helvetica Neue"/>
                <a:cs typeface="Helvetica Neue"/>
              </a:defRPr>
            </a:lvl3pPr>
            <a:lvl4pPr>
              <a:defRPr sz="1575" b="1">
                <a:solidFill>
                  <a:srgbClr val="174D46"/>
                </a:solidFill>
                <a:latin typeface="Helvetica Neue"/>
                <a:ea typeface="Helvetica Neue"/>
                <a:cs typeface="Helvetica Neue"/>
              </a:defRPr>
            </a:lvl4pPr>
            <a:lvl5pPr>
              <a:defRPr sz="1575" b="1">
                <a:solidFill>
                  <a:srgbClr val="174D46"/>
                </a:solidFill>
                <a:latin typeface="Helvetica Neue"/>
                <a:ea typeface="Helvetica Neue"/>
                <a:cs typeface="Helvetica Neue"/>
              </a:defRPr>
            </a:lvl5pPr>
            <a:lvl6pPr>
              <a:defRPr sz="1575" b="1">
                <a:solidFill>
                  <a:srgbClr val="174D46"/>
                </a:solidFill>
                <a:latin typeface="Helvetica Neue"/>
                <a:ea typeface="Helvetica Neue"/>
                <a:cs typeface="Helvetica Neue"/>
              </a:defRPr>
            </a:lvl6pPr>
            <a:lvl7pPr>
              <a:defRPr sz="1575" b="1">
                <a:solidFill>
                  <a:srgbClr val="174D46"/>
                </a:solidFill>
                <a:latin typeface="Helvetica Neue"/>
                <a:ea typeface="Helvetica Neue"/>
                <a:cs typeface="Helvetica Neue"/>
              </a:defRPr>
            </a:lvl7pPr>
            <a:lvl8pPr>
              <a:defRPr sz="1575" b="1">
                <a:solidFill>
                  <a:srgbClr val="174D46"/>
                </a:solidFill>
                <a:latin typeface="Helvetica Neue"/>
                <a:ea typeface="Helvetica Neue"/>
                <a:cs typeface="Helvetica Neue"/>
              </a:defRPr>
            </a:lvl8pPr>
            <a:lvl9pPr>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3. Data at the Core</a:t>
            </a:r>
          </a:p>
        </p:txBody>
      </p:sp>
      <p:sp>
        <p:nvSpPr>
          <p:cNvPr id="8" name="">
            <a:extLst xmlns:a="http://schemas.openxmlformats.org/drawingml/2006/main">
              <a:ext uri="{FF2B5EF4-FFF2-40B4-BE49-F238E27FC236}">
                <a16:creationId xmlns:a16="http://schemas.microsoft.com/office/drawing/2014/main" id="{71F93A46-5D1C-456D-8F33-64C57EDF04D3}"/>
              </a:ext>
            </a:extLst>
          </p:cNvPr>
          <p:cNvSpPr>
            <a:spLocks xmlns:a="http://schemas.openxmlformats.org/drawingml/2006/main" noGrp="1"/>
          </p:cNvSpPr>
          <p:nvPr/>
        </p:nvSpPr>
        <p:spPr>
          <a:xfrm xmlns:a="http://schemas.openxmlformats.org/drawingml/2006/main">
            <a:off x="457200" y="4848225"/>
            <a:ext cx="62388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253F39"/>
                </a:solidFill>
                <a:latin typeface="Helvetica Neue"/>
                <a:ea typeface="Helvetica Neue"/>
                <a:cs typeface="Helvetica Neue"/>
              </a:defRPr>
            </a:defPPr>
            <a:lvl1pPr>
              <a:defRPr sz="1800" b="0">
                <a:solidFill>
                  <a:srgbClr val="253F39"/>
                </a:solidFill>
                <a:latin typeface="Helvetica Neue"/>
                <a:ea typeface="Helvetica Neue"/>
                <a:cs typeface="Helvetica Neue"/>
              </a:defRPr>
            </a:lvl1pPr>
            <a:lvl2pPr>
              <a:defRPr sz="1800" b="0">
                <a:solidFill>
                  <a:srgbClr val="253F39"/>
                </a:solidFill>
                <a:latin typeface="Helvetica Neue"/>
                <a:ea typeface="Helvetica Neue"/>
                <a:cs typeface="Helvetica Neue"/>
              </a:defRPr>
            </a:lvl2pPr>
            <a:lvl3pPr>
              <a:defRPr sz="1800" b="0">
                <a:solidFill>
                  <a:srgbClr val="253F39"/>
                </a:solidFill>
                <a:latin typeface="Helvetica Neue"/>
                <a:ea typeface="Helvetica Neue"/>
                <a:cs typeface="Helvetica Neue"/>
              </a:defRPr>
            </a:lvl3pPr>
            <a:lvl4pPr>
              <a:defRPr sz="1800" b="0">
                <a:solidFill>
                  <a:srgbClr val="253F39"/>
                </a:solidFill>
                <a:latin typeface="Helvetica Neue"/>
                <a:ea typeface="Helvetica Neue"/>
                <a:cs typeface="Helvetica Neue"/>
              </a:defRPr>
            </a:lvl4pPr>
            <a:lvl5pPr>
              <a:defRPr sz="1800" b="0">
                <a:solidFill>
                  <a:srgbClr val="253F39"/>
                </a:solidFill>
                <a:latin typeface="Helvetica Neue"/>
                <a:ea typeface="Helvetica Neue"/>
                <a:cs typeface="Helvetica Neue"/>
              </a:defRPr>
            </a:lvl5pPr>
            <a:lvl6pPr>
              <a:defRPr sz="1800" b="0">
                <a:solidFill>
                  <a:srgbClr val="253F39"/>
                </a:solidFill>
                <a:latin typeface="Helvetica Neue"/>
                <a:ea typeface="Helvetica Neue"/>
                <a:cs typeface="Helvetica Neue"/>
              </a:defRPr>
            </a:lvl6pPr>
            <a:lvl7pPr>
              <a:defRPr sz="1800" b="0">
                <a:solidFill>
                  <a:srgbClr val="253F39"/>
                </a:solidFill>
                <a:latin typeface="Helvetica Neue"/>
                <a:ea typeface="Helvetica Neue"/>
                <a:cs typeface="Helvetica Neue"/>
              </a:defRPr>
            </a:lvl7pPr>
            <a:lvl8pPr>
              <a:defRPr sz="1800" b="0">
                <a:solidFill>
                  <a:srgbClr val="253F39"/>
                </a:solidFill>
                <a:latin typeface="Helvetica Neue"/>
                <a:ea typeface="Helvetica Neue"/>
                <a:cs typeface="Helvetica Neue"/>
              </a:defRPr>
            </a:lvl8pPr>
            <a:lvl9pPr>
              <a:defRPr sz="1800" b="0">
                <a:solidFill>
                  <a:srgbClr val="253F39"/>
                </a:solidFill>
                <a:latin typeface="Helvetica Neue"/>
                <a:ea typeface="Helvetica Neue"/>
                <a:cs typeface="Helvetica Neue"/>
              </a:defRPr>
            </a:lvl9pPr>
          </a:lstStyle>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Official recalls, stock and delivery documents.</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PostgreSQL preserves versions and provenance.</a:t>
            </a:r>
          </a:p>
          <a:p xmlns:a="http://schemas.openxmlformats.org/drawingml/2006/main">
            <a:pPr>
              <a:buNone/>
              <a:defRPr sz="1800" b="0">
                <a:solidFill>
                  <a:srgbClr val="253F39"/>
                </a:solidFill>
                <a:latin typeface="Helvetica Neue"/>
                <a:ea typeface="Helvetica Neue"/>
                <a:cs typeface="Helvetica Neue"/>
              </a:defRPr>
            </a:pPr>
            <a:r>
              <a:rPr sz="1800" b="0">
                <a:solidFill>
                  <a:srgbClr val="253F39"/>
                </a:solidFill>
                <a:latin typeface="Helvetica Neue"/>
                <a:ea typeface="Helvetica Neue"/>
                <a:cs typeface="Helvetica Neue"/>
              </a:rPr>
              <a:t>New evidence triggers investigation.</a:t>
            </a:r>
          </a:p>
        </p:txBody>
      </p:sp>
      <p:sp>
        <p:nvSpPr>
          <p:cNvPr id="9" name="">
            <a:extLst xmlns:a="http://schemas.openxmlformats.org/drawingml/2006/main">
              <a:ext uri="{FF2B5EF4-FFF2-40B4-BE49-F238E27FC236}">
                <a16:creationId xmlns:a16="http://schemas.microsoft.com/office/drawing/2014/main" id="{97519001-BF6E-47E4-A4CB-79B263003E1C}"/>
              </a:ext>
            </a:extLst>
          </p:cNvPr>
          <p:cNvSpPr>
            <a:spLocks xmlns:a="http://schemas.openxmlformats.org/drawingml/2006/main" noGrp="1"/>
          </p:cNvSpPr>
          <p:nvPr/>
        </p:nvSpPr>
        <p:spPr>
          <a:xfrm xmlns:a="http://schemas.openxmlformats.org/drawingml/2006/main">
            <a:off x="7239000" y="1571625"/>
            <a:ext cx="4495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defRPr sz="1575" b="1">
                <a:solidFill>
                  <a:srgbClr val="174D46"/>
                </a:solidFill>
                <a:latin typeface="Helvetica Neue"/>
                <a:ea typeface="Helvetica Neue"/>
                <a:cs typeface="Helvetica Neue"/>
              </a:defRPr>
            </a:lvl1pPr>
            <a:lvl2pPr>
              <a:defRPr sz="1575" b="1">
                <a:solidFill>
                  <a:srgbClr val="174D46"/>
                </a:solidFill>
                <a:latin typeface="Helvetica Neue"/>
                <a:ea typeface="Helvetica Neue"/>
                <a:cs typeface="Helvetica Neue"/>
              </a:defRPr>
            </a:lvl2pPr>
            <a:lvl3pPr>
              <a:defRPr sz="1575" b="1">
                <a:solidFill>
                  <a:srgbClr val="174D46"/>
                </a:solidFill>
                <a:latin typeface="Helvetica Neue"/>
                <a:ea typeface="Helvetica Neue"/>
                <a:cs typeface="Helvetica Neue"/>
              </a:defRPr>
            </a:lvl3pPr>
            <a:lvl4pPr>
              <a:defRPr sz="1575" b="1">
                <a:solidFill>
                  <a:srgbClr val="174D46"/>
                </a:solidFill>
                <a:latin typeface="Helvetica Neue"/>
                <a:ea typeface="Helvetica Neue"/>
                <a:cs typeface="Helvetica Neue"/>
              </a:defRPr>
            </a:lvl4pPr>
            <a:lvl5pPr>
              <a:defRPr sz="1575" b="1">
                <a:solidFill>
                  <a:srgbClr val="174D46"/>
                </a:solidFill>
                <a:latin typeface="Helvetica Neue"/>
                <a:ea typeface="Helvetica Neue"/>
                <a:cs typeface="Helvetica Neue"/>
              </a:defRPr>
            </a:lvl5pPr>
            <a:lvl6pPr>
              <a:defRPr sz="1575" b="1">
                <a:solidFill>
                  <a:srgbClr val="174D46"/>
                </a:solidFill>
                <a:latin typeface="Helvetica Neue"/>
                <a:ea typeface="Helvetica Neue"/>
                <a:cs typeface="Helvetica Neue"/>
              </a:defRPr>
            </a:lvl6pPr>
            <a:lvl7pPr>
              <a:defRPr sz="1575" b="1">
                <a:solidFill>
                  <a:srgbClr val="174D46"/>
                </a:solidFill>
                <a:latin typeface="Helvetica Neue"/>
                <a:ea typeface="Helvetica Neue"/>
                <a:cs typeface="Helvetica Neue"/>
              </a:defRPr>
            </a:lvl7pPr>
            <a:lvl8pPr>
              <a:defRPr sz="1575" b="1">
                <a:solidFill>
                  <a:srgbClr val="174D46"/>
                </a:solidFill>
                <a:latin typeface="Helvetica Neue"/>
                <a:ea typeface="Helvetica Neue"/>
                <a:cs typeface="Helvetica Neue"/>
              </a:defRPr>
            </a:lvl8pPr>
            <a:lvl9pPr>
              <a:defRPr sz="1575" b="1">
                <a:solidFill>
                  <a:srgbClr val="174D46"/>
                </a:solidFill>
                <a:latin typeface="Helvetica Neue"/>
                <a:ea typeface="Helvetica Neue"/>
                <a:cs typeface="Helvetica Neue"/>
              </a:defRPr>
            </a:lvl9pPr>
          </a:lstStyle>
          <a:p xmlns:a="http://schemas.openxmlformats.org/drawingml/2006/main">
            <a:pPr>
              <a:buNone/>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4. Evidence It Works</a:t>
            </a:r>
          </a:p>
        </p:txBody>
      </p:sp>
      <p:sp>
        <p:nvSpPr>
          <p:cNvPr id="11" name="">
            <a:extLst xmlns:a="http://schemas.openxmlformats.org/drawingml/2006/main">
              <a:ext uri="{FF2B5EF4-FFF2-40B4-BE49-F238E27FC236}">
                <a16:creationId xmlns:a16="http://schemas.microsoft.com/office/drawing/2014/main" id="{D70FC394-09EA-4657-8EC8-3A599266E271}"/>
              </a:ext>
            </a:extLst>
          </p:cNvPr>
          <p:cNvSpPr>
            <a:spLocks xmlns:a="http://schemas.openxmlformats.org/drawingml/2006/main" noGrp="1"/>
          </p:cNvSpPr>
          <p:nvPr/>
        </p:nvSpPr>
        <p:spPr>
          <a:xfrm xmlns:a="http://schemas.openxmlformats.org/drawingml/2006/main">
            <a:off x="7239000" y="1952625"/>
            <a:ext cx="190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75" b="1">
                <a:solidFill>
                  <a:srgbClr val="527066"/>
                </a:solidFill>
                <a:latin typeface="Helvetica Neue"/>
                <a:ea typeface="Helvetica Neue"/>
                <a:cs typeface="Helvetica Neue"/>
              </a:defRPr>
            </a:defPPr>
            <a:lvl1pPr>
              <a:defRPr sz="3675" b="1">
                <a:solidFill>
                  <a:srgbClr val="527066"/>
                </a:solidFill>
                <a:latin typeface="Helvetica Neue"/>
                <a:ea typeface="Helvetica Neue"/>
                <a:cs typeface="Helvetica Neue"/>
              </a:defRPr>
            </a:lvl1pPr>
            <a:lvl2pPr>
              <a:defRPr sz="3675" b="1">
                <a:solidFill>
                  <a:srgbClr val="527066"/>
                </a:solidFill>
                <a:latin typeface="Helvetica Neue"/>
                <a:ea typeface="Helvetica Neue"/>
                <a:cs typeface="Helvetica Neue"/>
              </a:defRPr>
            </a:lvl2pPr>
            <a:lvl3pPr>
              <a:defRPr sz="3675" b="1">
                <a:solidFill>
                  <a:srgbClr val="527066"/>
                </a:solidFill>
                <a:latin typeface="Helvetica Neue"/>
                <a:ea typeface="Helvetica Neue"/>
                <a:cs typeface="Helvetica Neue"/>
              </a:defRPr>
            </a:lvl3pPr>
            <a:lvl4pPr>
              <a:defRPr sz="3675" b="1">
                <a:solidFill>
                  <a:srgbClr val="527066"/>
                </a:solidFill>
                <a:latin typeface="Helvetica Neue"/>
                <a:ea typeface="Helvetica Neue"/>
                <a:cs typeface="Helvetica Neue"/>
              </a:defRPr>
            </a:lvl4pPr>
            <a:lvl5pPr>
              <a:defRPr sz="3675" b="1">
                <a:solidFill>
                  <a:srgbClr val="527066"/>
                </a:solidFill>
                <a:latin typeface="Helvetica Neue"/>
                <a:ea typeface="Helvetica Neue"/>
                <a:cs typeface="Helvetica Neue"/>
              </a:defRPr>
            </a:lvl5pPr>
            <a:lvl6pPr>
              <a:defRPr sz="3675" b="1">
                <a:solidFill>
                  <a:srgbClr val="527066"/>
                </a:solidFill>
                <a:latin typeface="Helvetica Neue"/>
                <a:ea typeface="Helvetica Neue"/>
                <a:cs typeface="Helvetica Neue"/>
              </a:defRPr>
            </a:lvl6pPr>
            <a:lvl7pPr>
              <a:defRPr sz="3675" b="1">
                <a:solidFill>
                  <a:srgbClr val="527066"/>
                </a:solidFill>
                <a:latin typeface="Helvetica Neue"/>
                <a:ea typeface="Helvetica Neue"/>
                <a:cs typeface="Helvetica Neue"/>
              </a:defRPr>
            </a:lvl7pPr>
            <a:lvl8pPr>
              <a:defRPr sz="3675" b="1">
                <a:solidFill>
                  <a:srgbClr val="527066"/>
                </a:solidFill>
                <a:latin typeface="Helvetica Neue"/>
                <a:ea typeface="Helvetica Neue"/>
                <a:cs typeface="Helvetica Neue"/>
              </a:defRPr>
            </a:lvl8pPr>
            <a:lvl9pPr>
              <a:defRPr sz="3675" b="1">
                <a:solidFill>
                  <a:srgbClr val="527066"/>
                </a:solidFill>
                <a:latin typeface="Helvetica Neue"/>
                <a:ea typeface="Helvetica Neue"/>
                <a:cs typeface="Helvetica Neue"/>
              </a:defRPr>
            </a:lvl9pPr>
          </a:lstStyle>
          <a:p xmlns:a="http://schemas.openxmlformats.org/drawingml/2006/main">
            <a:pPr>
              <a:defRPr sz="3675" b="1">
                <a:solidFill>
                  <a:srgbClr val="527066"/>
                </a:solidFill>
                <a:latin typeface="Helvetica Neue"/>
                <a:ea typeface="Helvetica Neue"/>
                <a:cs typeface="Helvetica Neue"/>
              </a:defRPr>
            </a:pPr>
            <a:r>
              <a:rPr sz="3675" b="1">
                <a:solidFill>
                  <a:srgbClr val="527066"/>
                </a:solidFill>
                <a:latin typeface="Helvetica Neue"/>
                <a:ea typeface="Helvetica Neue"/>
                <a:cs typeface="Helvetica Neue"/>
              </a:rPr>
              <a:t>6/12</a:t>
            </a:r>
          </a:p>
        </p:txBody>
      </p:sp>
      <p:sp>
        <p:nvSpPr>
          <p:cNvPr id="12" name="">
            <a:extLst xmlns:a="http://schemas.openxmlformats.org/drawingml/2006/main">
              <a:ext uri="{FF2B5EF4-FFF2-40B4-BE49-F238E27FC236}">
                <a16:creationId xmlns:a16="http://schemas.microsoft.com/office/drawing/2014/main" id="{E8ADAD5D-911F-40A1-9488-B40902E0ECFB}"/>
              </a:ext>
            </a:extLst>
          </p:cNvPr>
          <p:cNvSpPr>
            <a:spLocks xmlns:a="http://schemas.openxmlformats.org/drawingml/2006/main" noGrp="1"/>
          </p:cNvSpPr>
          <p:nvPr/>
        </p:nvSpPr>
        <p:spPr>
          <a:xfrm xmlns:a="http://schemas.openxmlformats.org/drawingml/2006/main">
            <a:off x="9525000" y="1952625"/>
            <a:ext cx="2209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75" b="1">
                <a:solidFill>
                  <a:srgbClr val="174D46"/>
                </a:solidFill>
                <a:latin typeface="Helvetica Neue"/>
                <a:ea typeface="Helvetica Neue"/>
                <a:cs typeface="Helvetica Neue"/>
              </a:defRPr>
            </a:defPPr>
            <a:lvl1pPr>
              <a:defRPr sz="3675" b="1">
                <a:solidFill>
                  <a:srgbClr val="174D46"/>
                </a:solidFill>
                <a:latin typeface="Helvetica Neue"/>
                <a:ea typeface="Helvetica Neue"/>
                <a:cs typeface="Helvetica Neue"/>
              </a:defRPr>
            </a:lvl1pPr>
            <a:lvl2pPr>
              <a:defRPr sz="3675" b="1">
                <a:solidFill>
                  <a:srgbClr val="174D46"/>
                </a:solidFill>
                <a:latin typeface="Helvetica Neue"/>
                <a:ea typeface="Helvetica Neue"/>
                <a:cs typeface="Helvetica Neue"/>
              </a:defRPr>
            </a:lvl2pPr>
            <a:lvl3pPr>
              <a:defRPr sz="3675" b="1">
                <a:solidFill>
                  <a:srgbClr val="174D46"/>
                </a:solidFill>
                <a:latin typeface="Helvetica Neue"/>
                <a:ea typeface="Helvetica Neue"/>
                <a:cs typeface="Helvetica Neue"/>
              </a:defRPr>
            </a:lvl3pPr>
            <a:lvl4pPr>
              <a:defRPr sz="3675" b="1">
                <a:solidFill>
                  <a:srgbClr val="174D46"/>
                </a:solidFill>
                <a:latin typeface="Helvetica Neue"/>
                <a:ea typeface="Helvetica Neue"/>
                <a:cs typeface="Helvetica Neue"/>
              </a:defRPr>
            </a:lvl4pPr>
            <a:lvl5pPr>
              <a:defRPr sz="3675" b="1">
                <a:solidFill>
                  <a:srgbClr val="174D46"/>
                </a:solidFill>
                <a:latin typeface="Helvetica Neue"/>
                <a:ea typeface="Helvetica Neue"/>
                <a:cs typeface="Helvetica Neue"/>
              </a:defRPr>
            </a:lvl5pPr>
            <a:lvl6pPr>
              <a:defRPr sz="3675" b="1">
                <a:solidFill>
                  <a:srgbClr val="174D46"/>
                </a:solidFill>
                <a:latin typeface="Helvetica Neue"/>
                <a:ea typeface="Helvetica Neue"/>
                <a:cs typeface="Helvetica Neue"/>
              </a:defRPr>
            </a:lvl6pPr>
            <a:lvl7pPr>
              <a:defRPr sz="3675" b="1">
                <a:solidFill>
                  <a:srgbClr val="174D46"/>
                </a:solidFill>
                <a:latin typeface="Helvetica Neue"/>
                <a:ea typeface="Helvetica Neue"/>
                <a:cs typeface="Helvetica Neue"/>
              </a:defRPr>
            </a:lvl7pPr>
            <a:lvl8pPr>
              <a:defRPr sz="3675" b="1">
                <a:solidFill>
                  <a:srgbClr val="174D46"/>
                </a:solidFill>
                <a:latin typeface="Helvetica Neue"/>
                <a:ea typeface="Helvetica Neue"/>
                <a:cs typeface="Helvetica Neue"/>
              </a:defRPr>
            </a:lvl8pPr>
            <a:lvl9pPr>
              <a:defRPr sz="3675" b="1">
                <a:solidFill>
                  <a:srgbClr val="174D46"/>
                </a:solidFill>
                <a:latin typeface="Helvetica Neue"/>
                <a:ea typeface="Helvetica Neue"/>
                <a:cs typeface="Helvetica Neue"/>
              </a:defRPr>
            </a:lvl9pPr>
          </a:lstStyle>
          <a:p xmlns:a="http://schemas.openxmlformats.org/drawingml/2006/main">
            <a:pPr>
              <a:defRPr sz="3675" b="1">
                <a:solidFill>
                  <a:srgbClr val="174D46"/>
                </a:solidFill>
                <a:latin typeface="Helvetica Neue"/>
                <a:ea typeface="Helvetica Neue"/>
                <a:cs typeface="Helvetica Neue"/>
              </a:defRPr>
            </a:pPr>
            <a:r>
              <a:rPr sz="3675" b="1">
                <a:solidFill>
                  <a:srgbClr val="174D46"/>
                </a:solidFill>
                <a:latin typeface="Helvetica Neue"/>
                <a:ea typeface="Helvetica Neue"/>
                <a:cs typeface="Helvetica Neue"/>
              </a:rPr>
              <a:t>12/12</a:t>
            </a:r>
          </a:p>
        </p:txBody>
      </p:sp>
      <p:sp>
        <p:nvSpPr>
          <p:cNvPr id="13" name="">
            <a:extLst xmlns:a="http://schemas.openxmlformats.org/drawingml/2006/main">
              <a:ext uri="{FF2B5EF4-FFF2-40B4-BE49-F238E27FC236}">
                <a16:creationId xmlns:a16="http://schemas.microsoft.com/office/drawing/2014/main" id="{39474FD9-17B9-4507-B125-729650E7F1E5}"/>
              </a:ext>
            </a:extLst>
          </p:cNvPr>
          <p:cNvSpPr>
            <a:spLocks xmlns:a="http://schemas.openxmlformats.org/drawingml/2006/main" noGrp="1"/>
          </p:cNvSpPr>
          <p:nvPr/>
        </p:nvSpPr>
        <p:spPr>
          <a:xfrm xmlns:a="http://schemas.openxmlformats.org/drawingml/2006/main">
            <a:off x="7239000" y="2600325"/>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53F39"/>
                </a:solidFill>
                <a:latin typeface="Helvetica Neue"/>
                <a:ea typeface="Helvetica Neue"/>
                <a:cs typeface="Helvetica Neue"/>
              </a:defRPr>
            </a:defPPr>
            <a:lvl1pPr>
              <a:defRPr sz="1725" b="0">
                <a:solidFill>
                  <a:srgbClr val="253F39"/>
                </a:solidFill>
                <a:latin typeface="Helvetica Neue"/>
                <a:ea typeface="Helvetica Neue"/>
                <a:cs typeface="Helvetica Neue"/>
              </a:defRPr>
            </a:lvl1pPr>
            <a:lvl2pPr>
              <a:defRPr sz="1725" b="0">
                <a:solidFill>
                  <a:srgbClr val="253F39"/>
                </a:solidFill>
                <a:latin typeface="Helvetica Neue"/>
                <a:ea typeface="Helvetica Neue"/>
                <a:cs typeface="Helvetica Neue"/>
              </a:defRPr>
            </a:lvl2pPr>
            <a:lvl3pPr>
              <a:defRPr sz="1725" b="0">
                <a:solidFill>
                  <a:srgbClr val="253F39"/>
                </a:solidFill>
                <a:latin typeface="Helvetica Neue"/>
                <a:ea typeface="Helvetica Neue"/>
                <a:cs typeface="Helvetica Neue"/>
              </a:defRPr>
            </a:lvl3pPr>
            <a:lvl4pPr>
              <a:defRPr sz="1725" b="0">
                <a:solidFill>
                  <a:srgbClr val="253F39"/>
                </a:solidFill>
                <a:latin typeface="Helvetica Neue"/>
                <a:ea typeface="Helvetica Neue"/>
                <a:cs typeface="Helvetica Neue"/>
              </a:defRPr>
            </a:lvl4pPr>
            <a:lvl5pPr>
              <a:defRPr sz="1725" b="0">
                <a:solidFill>
                  <a:srgbClr val="253F39"/>
                </a:solidFill>
                <a:latin typeface="Helvetica Neue"/>
                <a:ea typeface="Helvetica Neue"/>
                <a:cs typeface="Helvetica Neue"/>
              </a:defRPr>
            </a:lvl5pPr>
            <a:lvl6pPr>
              <a:defRPr sz="1725" b="0">
                <a:solidFill>
                  <a:srgbClr val="253F39"/>
                </a:solidFill>
                <a:latin typeface="Helvetica Neue"/>
                <a:ea typeface="Helvetica Neue"/>
                <a:cs typeface="Helvetica Neue"/>
              </a:defRPr>
            </a:lvl6pPr>
            <a:lvl7pPr>
              <a:defRPr sz="1725" b="0">
                <a:solidFill>
                  <a:srgbClr val="253F39"/>
                </a:solidFill>
                <a:latin typeface="Helvetica Neue"/>
                <a:ea typeface="Helvetica Neue"/>
                <a:cs typeface="Helvetica Neue"/>
              </a:defRPr>
            </a:lvl7pPr>
            <a:lvl8pPr>
              <a:defRPr sz="1725" b="0">
                <a:solidFill>
                  <a:srgbClr val="253F39"/>
                </a:solidFill>
                <a:latin typeface="Helvetica Neue"/>
                <a:ea typeface="Helvetica Neue"/>
                <a:cs typeface="Helvetica Neue"/>
              </a:defRPr>
            </a:lvl8pPr>
            <a:lvl9pPr>
              <a:defRPr sz="1725" b="0">
                <a:solidFill>
                  <a:srgbClr val="253F39"/>
                </a:solidFill>
                <a:latin typeface="Helvetica Neue"/>
                <a:ea typeface="Helvetica Neue"/>
                <a:cs typeface="Helvetica Neue"/>
              </a:defRPr>
            </a:lvl9pPr>
          </a:lstStyle>
          <a:p xmlns:a="http://schemas.openxmlformats.org/drawingml/2006/main">
            <a:pPr>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Baseline</a:t>
            </a:r>
          </a:p>
        </p:txBody>
      </p:sp>
      <p:sp>
        <p:nvSpPr>
          <p:cNvPr id="14" name="">
            <a:extLst xmlns:a="http://schemas.openxmlformats.org/drawingml/2006/main">
              <a:ext uri="{FF2B5EF4-FFF2-40B4-BE49-F238E27FC236}">
                <a16:creationId xmlns:a16="http://schemas.microsoft.com/office/drawing/2014/main" id="{9CCABFEB-0CC6-4756-B038-476669E25557}"/>
              </a:ext>
            </a:extLst>
          </p:cNvPr>
          <p:cNvSpPr>
            <a:spLocks xmlns:a="http://schemas.openxmlformats.org/drawingml/2006/main" noGrp="1"/>
          </p:cNvSpPr>
          <p:nvPr/>
        </p:nvSpPr>
        <p:spPr>
          <a:xfrm xmlns:a="http://schemas.openxmlformats.org/drawingml/2006/main">
            <a:off x="9525000" y="2600325"/>
            <a:ext cx="2209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53F39"/>
                </a:solidFill>
                <a:latin typeface="Helvetica Neue"/>
                <a:ea typeface="Helvetica Neue"/>
                <a:cs typeface="Helvetica Neue"/>
              </a:defRPr>
            </a:defPPr>
            <a:lvl1pPr>
              <a:defRPr sz="1725" b="0">
                <a:solidFill>
                  <a:srgbClr val="253F39"/>
                </a:solidFill>
                <a:latin typeface="Helvetica Neue"/>
                <a:ea typeface="Helvetica Neue"/>
                <a:cs typeface="Helvetica Neue"/>
              </a:defRPr>
            </a:lvl1pPr>
            <a:lvl2pPr>
              <a:defRPr sz="1725" b="0">
                <a:solidFill>
                  <a:srgbClr val="253F39"/>
                </a:solidFill>
                <a:latin typeface="Helvetica Neue"/>
                <a:ea typeface="Helvetica Neue"/>
                <a:cs typeface="Helvetica Neue"/>
              </a:defRPr>
            </a:lvl2pPr>
            <a:lvl3pPr>
              <a:defRPr sz="1725" b="0">
                <a:solidFill>
                  <a:srgbClr val="253F39"/>
                </a:solidFill>
                <a:latin typeface="Helvetica Neue"/>
                <a:ea typeface="Helvetica Neue"/>
                <a:cs typeface="Helvetica Neue"/>
              </a:defRPr>
            </a:lvl3pPr>
            <a:lvl4pPr>
              <a:defRPr sz="1725" b="0">
                <a:solidFill>
                  <a:srgbClr val="253F39"/>
                </a:solidFill>
                <a:latin typeface="Helvetica Neue"/>
                <a:ea typeface="Helvetica Neue"/>
                <a:cs typeface="Helvetica Neue"/>
              </a:defRPr>
            </a:lvl4pPr>
            <a:lvl5pPr>
              <a:defRPr sz="1725" b="0">
                <a:solidFill>
                  <a:srgbClr val="253F39"/>
                </a:solidFill>
                <a:latin typeface="Helvetica Neue"/>
                <a:ea typeface="Helvetica Neue"/>
                <a:cs typeface="Helvetica Neue"/>
              </a:defRPr>
            </a:lvl5pPr>
            <a:lvl6pPr>
              <a:defRPr sz="1725" b="0">
                <a:solidFill>
                  <a:srgbClr val="253F39"/>
                </a:solidFill>
                <a:latin typeface="Helvetica Neue"/>
                <a:ea typeface="Helvetica Neue"/>
                <a:cs typeface="Helvetica Neue"/>
              </a:defRPr>
            </a:lvl6pPr>
            <a:lvl7pPr>
              <a:defRPr sz="1725" b="0">
                <a:solidFill>
                  <a:srgbClr val="253F39"/>
                </a:solidFill>
                <a:latin typeface="Helvetica Neue"/>
                <a:ea typeface="Helvetica Neue"/>
                <a:cs typeface="Helvetica Neue"/>
              </a:defRPr>
            </a:lvl7pPr>
            <a:lvl8pPr>
              <a:defRPr sz="1725" b="0">
                <a:solidFill>
                  <a:srgbClr val="253F39"/>
                </a:solidFill>
                <a:latin typeface="Helvetica Neue"/>
                <a:ea typeface="Helvetica Neue"/>
                <a:cs typeface="Helvetica Neue"/>
              </a:defRPr>
            </a:lvl8pPr>
            <a:lvl9pPr>
              <a:defRPr sz="1725" b="0">
                <a:solidFill>
                  <a:srgbClr val="253F39"/>
                </a:solidFill>
                <a:latin typeface="Helvetica Neue"/>
                <a:ea typeface="Helvetica Neue"/>
                <a:cs typeface="Helvetica Neue"/>
              </a:defRPr>
            </a:lvl9pPr>
          </a:lstStyle>
          <a:p xmlns:a="http://schemas.openxmlformats.org/drawingml/2006/main">
            <a:pPr>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Adaptive investigator</a:t>
            </a:r>
          </a:p>
        </p:txBody>
      </p:sp>
      <p:sp>
        <p:nvSpPr>
          <p:cNvPr id="15" name="">
            <a:extLst xmlns:a="http://schemas.openxmlformats.org/drawingml/2006/main">
              <a:ext uri="{FF2B5EF4-FFF2-40B4-BE49-F238E27FC236}">
                <a16:creationId xmlns:a16="http://schemas.microsoft.com/office/drawing/2014/main" id="{D5AB2586-6BB8-469C-9D91-C685073AF515}"/>
              </a:ext>
            </a:extLst>
          </p:cNvPr>
          <p:cNvSpPr>
            <a:spLocks xmlns:a="http://schemas.openxmlformats.org/drawingml/2006/main" noGrp="1"/>
          </p:cNvSpPr>
          <p:nvPr/>
        </p:nvSpPr>
        <p:spPr>
          <a:xfrm xmlns:a="http://schemas.openxmlformats.org/drawingml/2006/main">
            <a:off x="7239000" y="2981325"/>
            <a:ext cx="4495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253F39"/>
                </a:solidFill>
                <a:latin typeface="Helvetica Neue"/>
                <a:ea typeface="Helvetica Neue"/>
                <a:cs typeface="Helvetica Neue"/>
              </a:defRPr>
            </a:defPPr>
            <a:lvl1pPr>
              <a:defRPr sz="1725" b="1">
                <a:solidFill>
                  <a:srgbClr val="253F39"/>
                </a:solidFill>
                <a:latin typeface="Helvetica Neue"/>
                <a:ea typeface="Helvetica Neue"/>
                <a:cs typeface="Helvetica Neue"/>
              </a:defRPr>
            </a:lvl1pPr>
            <a:lvl2pPr>
              <a:defRPr sz="1725" b="1">
                <a:solidFill>
                  <a:srgbClr val="253F39"/>
                </a:solidFill>
                <a:latin typeface="Helvetica Neue"/>
                <a:ea typeface="Helvetica Neue"/>
                <a:cs typeface="Helvetica Neue"/>
              </a:defRPr>
            </a:lvl2pPr>
            <a:lvl3pPr>
              <a:defRPr sz="1725" b="1">
                <a:solidFill>
                  <a:srgbClr val="253F39"/>
                </a:solidFill>
                <a:latin typeface="Helvetica Neue"/>
                <a:ea typeface="Helvetica Neue"/>
                <a:cs typeface="Helvetica Neue"/>
              </a:defRPr>
            </a:lvl3pPr>
            <a:lvl4pPr>
              <a:defRPr sz="1725" b="1">
                <a:solidFill>
                  <a:srgbClr val="253F39"/>
                </a:solidFill>
                <a:latin typeface="Helvetica Neue"/>
                <a:ea typeface="Helvetica Neue"/>
                <a:cs typeface="Helvetica Neue"/>
              </a:defRPr>
            </a:lvl4pPr>
            <a:lvl5pPr>
              <a:defRPr sz="1725" b="1">
                <a:solidFill>
                  <a:srgbClr val="253F39"/>
                </a:solidFill>
                <a:latin typeface="Helvetica Neue"/>
                <a:ea typeface="Helvetica Neue"/>
                <a:cs typeface="Helvetica Neue"/>
              </a:defRPr>
            </a:lvl5pPr>
            <a:lvl6pPr>
              <a:defRPr sz="1725" b="1">
                <a:solidFill>
                  <a:srgbClr val="253F39"/>
                </a:solidFill>
                <a:latin typeface="Helvetica Neue"/>
                <a:ea typeface="Helvetica Neue"/>
                <a:cs typeface="Helvetica Neue"/>
              </a:defRPr>
            </a:lvl6pPr>
            <a:lvl7pPr>
              <a:defRPr sz="1725" b="1">
                <a:solidFill>
                  <a:srgbClr val="253F39"/>
                </a:solidFill>
                <a:latin typeface="Helvetica Neue"/>
                <a:ea typeface="Helvetica Neue"/>
                <a:cs typeface="Helvetica Neue"/>
              </a:defRPr>
            </a:lvl7pPr>
            <a:lvl8pPr>
              <a:defRPr sz="1725" b="1">
                <a:solidFill>
                  <a:srgbClr val="253F39"/>
                </a:solidFill>
                <a:latin typeface="Helvetica Neue"/>
                <a:ea typeface="Helvetica Neue"/>
                <a:cs typeface="Helvetica Neue"/>
              </a:defRPr>
            </a:lvl8pPr>
            <a:lvl9pPr>
              <a:defRPr sz="1725" b="1">
                <a:solidFill>
                  <a:srgbClr val="253F39"/>
                </a:solidFill>
                <a:latin typeface="Helvetica Neue"/>
                <a:ea typeface="Helvetica Neue"/>
                <a:cs typeface="Helvetica Neue"/>
              </a:defRPr>
            </a:lvl9pPr>
          </a:lstStyle>
          <a:p xmlns:a="http://schemas.openxmlformats.org/drawingml/2006/main">
            <a:pPr>
              <a:defRPr sz="1725" b="1">
                <a:solidFill>
                  <a:srgbClr val="253F39"/>
                </a:solidFill>
                <a:latin typeface="Helvetica Neue"/>
                <a:ea typeface="Helvetica Neue"/>
                <a:cs typeface="Helvetica Neue"/>
              </a:defRPr>
            </a:pPr>
            <a:r>
              <a:rPr sz="1725" b="1">
                <a:solidFill>
                  <a:srgbClr val="253F39"/>
                </a:solidFill>
                <a:latin typeface="Helvetica Neue"/>
                <a:ea typeface="Helvetica Neue"/>
                <a:cs typeface="Helvetica Neue"/>
              </a:rPr>
              <a:t>Expected verdicts matched</a:t>
            </a:r>
          </a:p>
        </p:txBody>
      </p:sp>
      <p:sp>
        <p:nvSpPr>
          <p:cNvPr id="16" name="">
            <a:extLst xmlns:a="http://schemas.openxmlformats.org/drawingml/2006/main">
              <a:ext uri="{FF2B5EF4-FFF2-40B4-BE49-F238E27FC236}">
                <a16:creationId xmlns:a16="http://schemas.microsoft.com/office/drawing/2014/main" id="{895A52FD-D4F3-4257-B5E2-9543FB8A5438}"/>
              </a:ext>
            </a:extLst>
          </p:cNvPr>
          <p:cNvSpPr>
            <a:spLocks xmlns:a="http://schemas.openxmlformats.org/drawingml/2006/main" noGrp="1"/>
          </p:cNvSpPr>
          <p:nvPr/>
        </p:nvSpPr>
        <p:spPr>
          <a:xfrm xmlns:a="http://schemas.openxmlformats.org/drawingml/2006/main">
            <a:off x="7239000" y="3343275"/>
            <a:ext cx="4495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53F39"/>
                </a:solidFill>
                <a:latin typeface="Helvetica Neue"/>
                <a:ea typeface="Helvetica Neue"/>
                <a:cs typeface="Helvetica Neue"/>
              </a:defRPr>
            </a:defPPr>
            <a:lvl1pPr>
              <a:defRPr sz="1500" b="0">
                <a:solidFill>
                  <a:srgbClr val="253F39"/>
                </a:solidFill>
                <a:latin typeface="Helvetica Neue"/>
                <a:ea typeface="Helvetica Neue"/>
                <a:cs typeface="Helvetica Neue"/>
              </a:defRPr>
            </a:lvl1pPr>
            <a:lvl2pPr>
              <a:defRPr sz="1500" b="0">
                <a:solidFill>
                  <a:srgbClr val="253F39"/>
                </a:solidFill>
                <a:latin typeface="Helvetica Neue"/>
                <a:ea typeface="Helvetica Neue"/>
                <a:cs typeface="Helvetica Neue"/>
              </a:defRPr>
            </a:lvl2pPr>
            <a:lvl3pPr>
              <a:defRPr sz="1500" b="0">
                <a:solidFill>
                  <a:srgbClr val="253F39"/>
                </a:solidFill>
                <a:latin typeface="Helvetica Neue"/>
                <a:ea typeface="Helvetica Neue"/>
                <a:cs typeface="Helvetica Neue"/>
              </a:defRPr>
            </a:lvl3pPr>
            <a:lvl4pPr>
              <a:defRPr sz="1500" b="0">
                <a:solidFill>
                  <a:srgbClr val="253F39"/>
                </a:solidFill>
                <a:latin typeface="Helvetica Neue"/>
                <a:ea typeface="Helvetica Neue"/>
                <a:cs typeface="Helvetica Neue"/>
              </a:defRPr>
            </a:lvl4pPr>
            <a:lvl5pPr>
              <a:defRPr sz="1500" b="0">
                <a:solidFill>
                  <a:srgbClr val="253F39"/>
                </a:solidFill>
                <a:latin typeface="Helvetica Neue"/>
                <a:ea typeface="Helvetica Neue"/>
                <a:cs typeface="Helvetica Neue"/>
              </a:defRPr>
            </a:lvl5pPr>
            <a:lvl6pPr>
              <a:defRPr sz="1500" b="0">
                <a:solidFill>
                  <a:srgbClr val="253F39"/>
                </a:solidFill>
                <a:latin typeface="Helvetica Neue"/>
                <a:ea typeface="Helvetica Neue"/>
                <a:cs typeface="Helvetica Neue"/>
              </a:defRPr>
            </a:lvl6pPr>
            <a:lvl7pPr>
              <a:defRPr sz="1500" b="0">
                <a:solidFill>
                  <a:srgbClr val="253F39"/>
                </a:solidFill>
                <a:latin typeface="Helvetica Neue"/>
                <a:ea typeface="Helvetica Neue"/>
                <a:cs typeface="Helvetica Neue"/>
              </a:defRPr>
            </a:lvl7pPr>
            <a:lvl8pPr>
              <a:defRPr sz="1500" b="0">
                <a:solidFill>
                  <a:srgbClr val="253F39"/>
                </a:solidFill>
                <a:latin typeface="Helvetica Neue"/>
                <a:ea typeface="Helvetica Neue"/>
                <a:cs typeface="Helvetica Neue"/>
              </a:defRPr>
            </a:lvl8pPr>
            <a:lvl9pPr>
              <a:defRPr sz="1500" b="0">
                <a:solidFill>
                  <a:srgbClr val="253F39"/>
                </a:solidFill>
                <a:latin typeface="Helvetica Neue"/>
                <a:ea typeface="Helvetica Neue"/>
                <a:cs typeface="Helvetica Neue"/>
              </a:defRPr>
            </a:lvl9pPr>
          </a:lstStyle>
          <a:p xmlns:a="http://schemas.openxmlformats.org/drawingml/2006/main">
            <a:pPr>
              <a:defRPr sz="1500" b="0">
                <a:solidFill>
                  <a:srgbClr val="253F39"/>
                </a:solidFill>
                <a:latin typeface="Helvetica Neue"/>
                <a:ea typeface="Helvetica Neue"/>
                <a:cs typeface="Helvetica Neue"/>
              </a:defRPr>
            </a:pPr>
            <a:r>
              <a:rPr sz="1500" b="0">
                <a:solidFill>
                  <a:srgbClr val="253F39"/>
                </a:solidFill>
                <a:latin typeface="Helvetica Neue"/>
                <a:ea typeface="Helvetica Neue"/>
                <a:cs typeface="Helvetica Neue"/>
              </a:rPr>
              <a:t>12 synthetic cases. Seven human confirmations</a:t>
            </a:r>
          </a:p>
          <a:p xmlns:a="http://schemas.openxmlformats.org/drawingml/2006/main">
            <a:pPr>
              <a:defRPr sz="1500" b="0">
                <a:solidFill>
                  <a:srgbClr val="253F39"/>
                </a:solidFill>
                <a:latin typeface="Helvetica Neue"/>
                <a:ea typeface="Helvetica Neue"/>
                <a:cs typeface="Helvetica Neue"/>
              </a:defRPr>
            </a:pPr>
            <a:r>
              <a:rPr sz="1500" b="0">
                <a:solidFill>
                  <a:srgbClr val="253F39"/>
                </a:solidFill>
                <a:latin typeface="Helvetica Neue"/>
                <a:ea typeface="Helvetica Neue"/>
                <a:cs typeface="Helvetica Neue"/>
              </a:rPr>
              <a:t>supplied. No model calls.</a:t>
            </a:r>
          </a:p>
        </p:txBody>
      </p:sp>
      <p:sp>
        <p:nvSpPr>
          <p:cNvPr id="17" name="">
            <a:extLst xmlns:a="http://schemas.openxmlformats.org/drawingml/2006/main">
              <a:ext uri="{FF2B5EF4-FFF2-40B4-BE49-F238E27FC236}">
                <a16:creationId xmlns:a16="http://schemas.microsoft.com/office/drawing/2014/main" id="{6C318041-469E-4912-A0E9-5C3ACA48F6D5}"/>
              </a:ext>
            </a:extLst>
          </p:cNvPr>
          <p:cNvSpPr>
            <a:spLocks xmlns:a="http://schemas.openxmlformats.org/drawingml/2006/main" noGrp="1"/>
          </p:cNvSpPr>
          <p:nvPr/>
        </p:nvSpPr>
        <p:spPr>
          <a:xfrm xmlns:a="http://schemas.openxmlformats.org/drawingml/2006/main">
            <a:off x="7239000" y="4191000"/>
            <a:ext cx="4495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174D46"/>
                </a:solidFill>
                <a:latin typeface="Helvetica Neue"/>
                <a:ea typeface="Helvetica Neue"/>
                <a:cs typeface="Helvetica Neue"/>
              </a:defRPr>
            </a:defPPr>
            <a:lvl1pPr>
              <a:defRPr sz="1575" b="1">
                <a:solidFill>
                  <a:srgbClr val="174D46"/>
                </a:solidFill>
                <a:latin typeface="Helvetica Neue"/>
                <a:ea typeface="Helvetica Neue"/>
                <a:cs typeface="Helvetica Neue"/>
              </a:defRPr>
            </a:lvl1pPr>
            <a:lvl2pPr>
              <a:defRPr sz="1575" b="1">
                <a:solidFill>
                  <a:srgbClr val="174D46"/>
                </a:solidFill>
                <a:latin typeface="Helvetica Neue"/>
                <a:ea typeface="Helvetica Neue"/>
                <a:cs typeface="Helvetica Neue"/>
              </a:defRPr>
            </a:lvl2pPr>
            <a:lvl3pPr>
              <a:defRPr sz="1575" b="1">
                <a:solidFill>
                  <a:srgbClr val="174D46"/>
                </a:solidFill>
                <a:latin typeface="Helvetica Neue"/>
                <a:ea typeface="Helvetica Neue"/>
                <a:cs typeface="Helvetica Neue"/>
              </a:defRPr>
            </a:lvl3pPr>
            <a:lvl4pPr>
              <a:defRPr sz="1575" b="1">
                <a:solidFill>
                  <a:srgbClr val="174D46"/>
                </a:solidFill>
                <a:latin typeface="Helvetica Neue"/>
                <a:ea typeface="Helvetica Neue"/>
                <a:cs typeface="Helvetica Neue"/>
              </a:defRPr>
            </a:lvl4pPr>
            <a:lvl5pPr>
              <a:defRPr sz="1575" b="1">
                <a:solidFill>
                  <a:srgbClr val="174D46"/>
                </a:solidFill>
                <a:latin typeface="Helvetica Neue"/>
                <a:ea typeface="Helvetica Neue"/>
                <a:cs typeface="Helvetica Neue"/>
              </a:defRPr>
            </a:lvl5pPr>
            <a:lvl6pPr>
              <a:defRPr sz="1575" b="1">
                <a:solidFill>
                  <a:srgbClr val="174D46"/>
                </a:solidFill>
                <a:latin typeface="Helvetica Neue"/>
                <a:ea typeface="Helvetica Neue"/>
                <a:cs typeface="Helvetica Neue"/>
              </a:defRPr>
            </a:lvl6pPr>
            <a:lvl7pPr>
              <a:defRPr sz="1575" b="1">
                <a:solidFill>
                  <a:srgbClr val="174D46"/>
                </a:solidFill>
                <a:latin typeface="Helvetica Neue"/>
                <a:ea typeface="Helvetica Neue"/>
                <a:cs typeface="Helvetica Neue"/>
              </a:defRPr>
            </a:lvl7pPr>
            <a:lvl8pPr>
              <a:defRPr sz="1575" b="1">
                <a:solidFill>
                  <a:srgbClr val="174D46"/>
                </a:solidFill>
                <a:latin typeface="Helvetica Neue"/>
                <a:ea typeface="Helvetica Neue"/>
                <a:cs typeface="Helvetica Neue"/>
              </a:defRPr>
            </a:lvl8pPr>
            <a:lvl9pPr>
              <a:defRPr sz="1575" b="1">
                <a:solidFill>
                  <a:srgbClr val="174D46"/>
                </a:solidFill>
                <a:latin typeface="Helvetica Neue"/>
                <a:ea typeface="Helvetica Neue"/>
                <a:cs typeface="Helvetica Neue"/>
              </a:defRPr>
            </a:lvl9pPr>
          </a:lstStyle>
          <a:p xmlns:a="http://schemas.openxmlformats.org/drawingml/2006/main">
            <a:pPr>
              <a:defRPr sz="1575" b="1">
                <a:solidFill>
                  <a:srgbClr val="174D46"/>
                </a:solidFill>
                <a:latin typeface="Helvetica Neue"/>
                <a:ea typeface="Helvetica Neue"/>
                <a:cs typeface="Helvetica Neue"/>
              </a:defRPr>
            </a:pPr>
            <a:r>
              <a:rPr sz="1575" b="1">
                <a:solidFill>
                  <a:srgbClr val="174D46"/>
                </a:solidFill>
                <a:latin typeface="Helvetica Neue"/>
                <a:ea typeface="Helvetica Neue"/>
                <a:cs typeface="Helvetica Neue"/>
              </a:rPr>
              <a:t>5. Execution &amp; Pitch</a:t>
            </a:r>
          </a:p>
        </p:txBody>
      </p:sp>
      <p:sp>
        <p:nvSpPr>
          <p:cNvPr id="18" name="">
            <a:extLst xmlns:a="http://schemas.openxmlformats.org/drawingml/2006/main">
              <a:ext uri="{FF2B5EF4-FFF2-40B4-BE49-F238E27FC236}">
                <a16:creationId xmlns:a16="http://schemas.microsoft.com/office/drawing/2014/main" id="{285BFFF5-EE92-4379-A636-225E91F9128C}"/>
              </a:ext>
            </a:extLst>
          </p:cNvPr>
          <p:cNvSpPr>
            <a:spLocks xmlns:a="http://schemas.openxmlformats.org/drawingml/2006/main" noGrp="1"/>
          </p:cNvSpPr>
          <p:nvPr/>
        </p:nvSpPr>
        <p:spPr>
          <a:xfrm xmlns:a="http://schemas.openxmlformats.org/drawingml/2006/main">
            <a:off x="7239000" y="4562475"/>
            <a:ext cx="4495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53F39"/>
                </a:solidFill>
                <a:latin typeface="Helvetica Neue"/>
                <a:ea typeface="Helvetica Neue"/>
                <a:cs typeface="Helvetica Neue"/>
              </a:defRPr>
            </a:defPPr>
            <a:lvl1pPr>
              <a:defRPr sz="1725" b="0">
                <a:solidFill>
                  <a:srgbClr val="253F39"/>
                </a:solidFill>
                <a:latin typeface="Helvetica Neue"/>
                <a:ea typeface="Helvetica Neue"/>
                <a:cs typeface="Helvetica Neue"/>
              </a:defRPr>
            </a:lvl1pPr>
            <a:lvl2pPr>
              <a:defRPr sz="1725" b="0">
                <a:solidFill>
                  <a:srgbClr val="253F39"/>
                </a:solidFill>
                <a:latin typeface="Helvetica Neue"/>
                <a:ea typeface="Helvetica Neue"/>
                <a:cs typeface="Helvetica Neue"/>
              </a:defRPr>
            </a:lvl2pPr>
            <a:lvl3pPr>
              <a:defRPr sz="1725" b="0">
                <a:solidFill>
                  <a:srgbClr val="253F39"/>
                </a:solidFill>
                <a:latin typeface="Helvetica Neue"/>
                <a:ea typeface="Helvetica Neue"/>
                <a:cs typeface="Helvetica Neue"/>
              </a:defRPr>
            </a:lvl3pPr>
            <a:lvl4pPr>
              <a:defRPr sz="1725" b="0">
                <a:solidFill>
                  <a:srgbClr val="253F39"/>
                </a:solidFill>
                <a:latin typeface="Helvetica Neue"/>
                <a:ea typeface="Helvetica Neue"/>
                <a:cs typeface="Helvetica Neue"/>
              </a:defRPr>
            </a:lvl4pPr>
            <a:lvl5pPr>
              <a:defRPr sz="1725" b="0">
                <a:solidFill>
                  <a:srgbClr val="253F39"/>
                </a:solidFill>
                <a:latin typeface="Helvetica Neue"/>
                <a:ea typeface="Helvetica Neue"/>
                <a:cs typeface="Helvetica Neue"/>
              </a:defRPr>
            </a:lvl5pPr>
            <a:lvl6pPr>
              <a:defRPr sz="1725" b="0">
                <a:solidFill>
                  <a:srgbClr val="253F39"/>
                </a:solidFill>
                <a:latin typeface="Helvetica Neue"/>
                <a:ea typeface="Helvetica Neue"/>
                <a:cs typeface="Helvetica Neue"/>
              </a:defRPr>
            </a:lvl6pPr>
            <a:lvl7pPr>
              <a:defRPr sz="1725" b="0">
                <a:solidFill>
                  <a:srgbClr val="253F39"/>
                </a:solidFill>
                <a:latin typeface="Helvetica Neue"/>
                <a:ea typeface="Helvetica Neue"/>
                <a:cs typeface="Helvetica Neue"/>
              </a:defRPr>
            </a:lvl7pPr>
            <a:lvl8pPr>
              <a:defRPr sz="1725" b="0">
                <a:solidFill>
                  <a:srgbClr val="253F39"/>
                </a:solidFill>
                <a:latin typeface="Helvetica Neue"/>
                <a:ea typeface="Helvetica Neue"/>
                <a:cs typeface="Helvetica Neue"/>
              </a:defRPr>
            </a:lvl8pPr>
            <a:lvl9pPr>
              <a:defRPr sz="1725" b="0">
                <a:solidFill>
                  <a:srgbClr val="253F39"/>
                </a:solidFill>
                <a:latin typeface="Helvetica Neue"/>
                <a:ea typeface="Helvetica Neue"/>
                <a:cs typeface="Helvetica Neue"/>
              </a:defRPr>
            </a:lvl9pPr>
          </a:lstStyle>
          <a:p xmlns:a="http://schemas.openxmlformats.org/drawingml/2006/main">
            <a:pPr>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Why now: public recalls and delivery exports</a:t>
            </a:r>
          </a:p>
          <a:p xmlns:a="http://schemas.openxmlformats.org/drawingml/2006/main">
            <a:pPr>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make a focused pilot possible.</a:t>
            </a:r>
          </a:p>
          <a:p xmlns:a="http://schemas.openxmlformats.org/drawingml/2006/main">
            <a:pPr>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First users: recruit grocery operators for</a:t>
            </a:r>
          </a:p>
          <a:p xmlns:a="http://schemas.openxmlformats.org/drawingml/2006/main">
            <a:pPr>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supervised historical pilots. Measure</a:t>
            </a:r>
          </a:p>
          <a:p xmlns:a="http://schemas.openxmlformats.org/drawingml/2006/main">
            <a:pPr>
              <a:defRPr sz="1725" b="0">
                <a:solidFill>
                  <a:srgbClr val="253F39"/>
                </a:solidFill>
                <a:latin typeface="Helvetica Neue"/>
                <a:ea typeface="Helvetica Neue"/>
                <a:cs typeface="Helvetica Neue"/>
              </a:defRPr>
            </a:pPr>
            <a:r>
              <a:rPr sz="1725" b="0">
                <a:solidFill>
                  <a:srgbClr val="253F39"/>
                </a:solidFill>
                <a:latin typeface="Helvetica Neue"/>
                <a:ea typeface="Helvetica Neue"/>
                <a:cs typeface="Helvetica Neue"/>
              </a:rPr>
              <a:t>investigation time and supported decisions.</a:t>
            </a:r>
          </a:p>
        </p:txBody>
      </p:sp>
      <p:sp>
        <p:nvSpPr>
          <p:cNvPr id="19" name="">
            <a:extLst xmlns:a="http://schemas.openxmlformats.org/drawingml/2006/main">
              <a:ext uri="{FF2B5EF4-FFF2-40B4-BE49-F238E27FC236}">
                <a16:creationId xmlns:a16="http://schemas.microsoft.com/office/drawing/2014/main" id="{FB49BEEC-107F-4188-B4C5-3E970FDD65EC}"/>
              </a:ext>
            </a:extLst>
          </p:cNvPr>
          <p:cNvSpPr>
            <a:spLocks xmlns:a="http://schemas.openxmlformats.org/drawingml/2006/main" noGrp="1"/>
          </p:cNvSpPr>
          <p:nvPr/>
        </p:nvSpPr>
        <p:spPr>
          <a:xfrm xmlns:a="http://schemas.openxmlformats.org/drawingml/2006/main">
            <a:off x="457200" y="6267450"/>
            <a:ext cx="11277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345D54"/>
                </a:solidFill>
                <a:latin typeface="Helvetica Neue"/>
                <a:ea typeface="Helvetica Neue"/>
                <a:cs typeface="Helvetica Neue"/>
              </a:defRPr>
            </a:defPPr>
            <a:lvl1pPr>
              <a:defRPr sz="1500" b="0">
                <a:solidFill>
                  <a:srgbClr val="345D54"/>
                </a:solidFill>
                <a:latin typeface="Helvetica Neue"/>
                <a:ea typeface="Helvetica Neue"/>
                <a:cs typeface="Helvetica Neue"/>
              </a:defRPr>
            </a:lvl1pPr>
            <a:lvl2pPr>
              <a:defRPr sz="1500" b="0">
                <a:solidFill>
                  <a:srgbClr val="345D54"/>
                </a:solidFill>
                <a:latin typeface="Helvetica Neue"/>
                <a:ea typeface="Helvetica Neue"/>
                <a:cs typeface="Helvetica Neue"/>
              </a:defRPr>
            </a:lvl2pPr>
            <a:lvl3pPr>
              <a:defRPr sz="1500" b="0">
                <a:solidFill>
                  <a:srgbClr val="345D54"/>
                </a:solidFill>
                <a:latin typeface="Helvetica Neue"/>
                <a:ea typeface="Helvetica Neue"/>
                <a:cs typeface="Helvetica Neue"/>
              </a:defRPr>
            </a:lvl3pPr>
            <a:lvl4pPr>
              <a:defRPr sz="1500" b="0">
                <a:solidFill>
                  <a:srgbClr val="345D54"/>
                </a:solidFill>
                <a:latin typeface="Helvetica Neue"/>
                <a:ea typeface="Helvetica Neue"/>
                <a:cs typeface="Helvetica Neue"/>
              </a:defRPr>
            </a:lvl4pPr>
            <a:lvl5pPr>
              <a:defRPr sz="1500" b="0">
                <a:solidFill>
                  <a:srgbClr val="345D54"/>
                </a:solidFill>
                <a:latin typeface="Helvetica Neue"/>
                <a:ea typeface="Helvetica Neue"/>
                <a:cs typeface="Helvetica Neue"/>
              </a:defRPr>
            </a:lvl5pPr>
            <a:lvl6pPr>
              <a:defRPr sz="1500" b="0">
                <a:solidFill>
                  <a:srgbClr val="345D54"/>
                </a:solidFill>
                <a:latin typeface="Helvetica Neue"/>
                <a:ea typeface="Helvetica Neue"/>
                <a:cs typeface="Helvetica Neue"/>
              </a:defRPr>
            </a:lvl6pPr>
            <a:lvl7pPr>
              <a:defRPr sz="1500" b="0">
                <a:solidFill>
                  <a:srgbClr val="345D54"/>
                </a:solidFill>
                <a:latin typeface="Helvetica Neue"/>
                <a:ea typeface="Helvetica Neue"/>
                <a:cs typeface="Helvetica Neue"/>
              </a:defRPr>
            </a:lvl7pPr>
            <a:lvl8pPr>
              <a:defRPr sz="1500" b="0">
                <a:solidFill>
                  <a:srgbClr val="345D54"/>
                </a:solidFill>
                <a:latin typeface="Helvetica Neue"/>
                <a:ea typeface="Helvetica Neue"/>
                <a:cs typeface="Helvetica Neue"/>
              </a:defRPr>
            </a:lvl8pPr>
            <a:lvl9pPr>
              <a:defRPr sz="1500" b="0">
                <a:solidFill>
                  <a:srgbClr val="345D54"/>
                </a:solidFill>
                <a:latin typeface="Helvetica Neue"/>
                <a:ea typeface="Helvetica Neue"/>
                <a:cs typeface="Helvetica Neue"/>
              </a:defRPr>
            </a:lvl9pPr>
          </a:lstStyle>
          <a:p xmlns:a="http://schemas.openxmlformats.org/drawingml/2006/main">
            <a:pPr>
              <a:defRPr sz="1500" b="0">
                <a:solidFill>
                  <a:srgbClr val="345D54"/>
                </a:solidFill>
                <a:latin typeface="Helvetica Neue"/>
                <a:ea typeface="Helvetica Neue"/>
                <a:cs typeface="Helvetica Neue"/>
              </a:defRPr>
            </a:pPr>
            <a:r>
              <a:rPr sz="1500" b="0">
                <a:solidFill>
                  <a:srgbClr val="345D54"/>
                </a:solidFill>
                <a:latin typeface="Helvetica Neue"/>
                <a:ea typeface="Helvetica Neue"/>
                <a:cs typeface="Helvetica Neue"/>
              </a:rPr>
              <a:t>Historical recall with fictional business records. Working local demo. Aiven deployment pending.</a:t>
            </a:r>
          </a:p>
        </p:txBody>
      </p:sp>
    </p:spTree>
    <p:extLst>
      <p:ext uri="{BB962C8B-B14F-4D97-AF65-F5344CB8AC3E}">
        <p14:creationId xmlns:p14="http://schemas.microsoft.com/office/powerpoint/2010/main" val="11680119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2026-10-22T12:50:41.7930000Z</dcterms:created>
  <dcterms:modified xsi:type="dcterms:W3CDTF">2026-10-22T12:50:41.7930000Z</dcterms:modified>
</coreProperties>
</file>